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080C"/>
          </a:solidFill>
          <a:ln>
            <a:solidFill>
              <a:srgbClr val="030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2895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DD4BF"/>
                </a:solidFill>
              </a:defRPr>
            </a:pPr>
            <a:r>
              <a:t>CIVIC TECH • SMART MUNICIPAL GOVERNANCE</a:t>
            </a:r>
          </a:p>
          <a:p>
            <a:pPr algn="ctr">
              <a:spcBef>
                <a:spcPts val="1000"/>
              </a:spcBef>
              <a:defRPr sz="5400" b="1">
                <a:solidFill>
                  <a:srgbClr val="FFFFFF"/>
                </a:solidFill>
              </a:defRPr>
            </a:pPr>
            <a:r>
              <a:t>CitizenShield</a:t>
            </a:r>
          </a:p>
          <a:p>
            <a:pPr algn="ctr">
              <a:spcBef>
                <a:spcPts val="1000"/>
              </a:spcBef>
              <a:defRPr sz="2000">
                <a:solidFill>
                  <a:srgbClr val="10B981"/>
                </a:solidFill>
              </a:defRPr>
            </a:pPr>
            <a:r>
              <a:t>Next-Generation Municipal Grievance Redressal &amp; Spatial Radar Platform</a:t>
            </a:r>
          </a:p>
          <a:p>
            <a:pPr algn="ctr">
              <a:spcBef>
                <a:spcPts val="2400"/>
              </a:spcBef>
              <a:defRPr sz="1300">
                <a:solidFill>
                  <a:srgbClr val="94A3B8"/>
                </a:solidFill>
              </a:defRPr>
            </a:pPr>
            <a:r>
              <a:t>Full-Stack Web Development Project | CSE Academic Evaluation</a:t>
            </a:r>
            <a:br/>
            <a:r>
              <a:t>GitHub: github.com/chinmaymr7090/CitizenShield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080C"/>
          </a:solidFill>
          <a:ln>
            <a:solidFill>
              <a:srgbClr val="030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DD4BF"/>
                </a:solidFill>
                <a:latin typeface="Arial"/>
              </a:defRPr>
            </a:pPr>
            <a:r>
              <a:t>URBAN CHALLENGES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The Problem Statement: Urban Infrastructure Deficit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17320"/>
            <a:ext cx="10728655" cy="18288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081C26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DD4BF"/>
                </a:solidFill>
                <a:latin typeface="Arial"/>
              </a:defRPr>
            </a:pPr>
            <a:r>
              <a:t>[THE CRISIS] Fragmented Complaint Channels</a:t>
            </a:r>
          </a:p>
          <a:p>
            <a:pPr>
              <a:spcBef>
                <a:spcPts val="800"/>
              </a:spcBef>
              <a:defRPr sz="1300">
                <a:solidFill>
                  <a:srgbClr val="FFFFFF"/>
                </a:solidFill>
                <a:latin typeface="Arial"/>
              </a:defRPr>
            </a:pPr>
            <a:r>
              <a:t>• Citizens report craters, sewage spills, and blackouts via unmonitored WhatsApp, calls, or social media.</a:t>
            </a:r>
          </a:p>
          <a:p>
            <a:pPr>
              <a:spcBef>
                <a:spcPts val="800"/>
              </a:spcBef>
              <a:defRPr sz="1300">
                <a:solidFill>
                  <a:srgbClr val="FFFFFF"/>
                </a:solidFill>
                <a:latin typeface="Arial"/>
              </a:defRPr>
            </a:pPr>
            <a:r>
              <a:t>• Zero tracking mechanism: 82% of citizens never know if their complaint reached an authorized officer.</a:t>
            </a:r>
          </a:p>
          <a:p>
            <a:pPr>
              <a:spcBef>
                <a:spcPts val="800"/>
              </a:spcBef>
              <a:defRPr sz="1300">
                <a:solidFill>
                  <a:srgbClr val="FFFFFF"/>
                </a:solidFill>
                <a:latin typeface="Arial"/>
              </a:defRPr>
            </a:pPr>
            <a:r>
              <a:t>• Duplicate lodging: Multiple citizens submit redundant complaints for the same road hazard.</a:t>
            </a:r>
          </a:p>
          <a:p>
            <a:pPr>
              <a:spcBef>
                <a:spcPts val="800"/>
              </a:spcBef>
              <a:defRPr sz="1300">
                <a:solidFill>
                  <a:srgbClr val="FFFFFF"/>
                </a:solidFill>
                <a:latin typeface="Arial"/>
              </a:defRPr>
            </a:pPr>
            <a:r>
              <a:t>• Total lack of spatial context: Address descriptions like 'near old tea stall' delay field teams by days.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120640" cy="4572000"/>
          </a:xfrm>
          <a:prstGeom prst="roundRect">
            <a:avLst/>
          </a:prstGeom>
          <a:solidFill>
            <a:srgbClr val="081C26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82880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DD4BF"/>
                </a:solidFill>
                <a:latin typeface="Arial"/>
              </a:defRPr>
            </a:pPr>
            <a:r>
              <a:t>[THE BOTTLENECK] Administrative Inefficiencies</a:t>
            </a:r>
          </a:p>
          <a:p>
            <a:pPr>
              <a:spcBef>
                <a:spcPts val="800"/>
              </a:spcBef>
              <a:defRPr sz="1300">
                <a:solidFill>
                  <a:srgbClr val="FFFFFF"/>
                </a:solidFill>
                <a:latin typeface="Arial"/>
              </a:defRPr>
            </a:pPr>
            <a:r>
              <a:t>• Zonal officers lack a centralized triage system to prioritize life-threatening electrical or road risks.</a:t>
            </a:r>
          </a:p>
          <a:p>
            <a:pPr>
              <a:spcBef>
                <a:spcPts val="800"/>
              </a:spcBef>
              <a:defRPr sz="1300">
                <a:solidFill>
                  <a:srgbClr val="FFFFFF"/>
                </a:solidFill>
                <a:latin typeface="Arial"/>
              </a:defRPr>
            </a:pPr>
            <a:r>
              <a:t>• No immutable audit trail: Complaints get deleted or marked 'resolved' without photographic verification.</a:t>
            </a:r>
          </a:p>
          <a:p>
            <a:pPr>
              <a:spcBef>
                <a:spcPts val="800"/>
              </a:spcBef>
              <a:defRPr sz="1300">
                <a:solidFill>
                  <a:srgbClr val="FFFFFF"/>
                </a:solidFill>
                <a:latin typeface="Arial"/>
              </a:defRPr>
            </a:pPr>
            <a:r>
              <a:t>• Disorganized departmental routing between BBMP (Roads), BESCOM (Power), and BWSSB (Water).</a:t>
            </a:r>
          </a:p>
          <a:p>
            <a:pPr>
              <a:spcBef>
                <a:spcPts val="800"/>
              </a:spcBef>
              <a:defRPr sz="1300">
                <a:solidFill>
                  <a:srgbClr val="FFFFFF"/>
                </a:solidFill>
                <a:latin typeface="Arial"/>
              </a:defRPr>
            </a:pPr>
            <a:r>
              <a:t>• Inability to visualize hazard clusters across ward boundaries on a live interactive GIS map.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080C"/>
          </a:solidFill>
          <a:ln>
            <a:solidFill>
              <a:srgbClr val="030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DD4BF"/>
                </a:solidFill>
                <a:latin typeface="Arial"/>
              </a:defRPr>
            </a:pPr>
            <a:r>
              <a:t>SYSTEM VISION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The CitizenShield Solution: Closed-Loop Governance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17320"/>
            <a:ext cx="10728655" cy="18288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383280" cy="4572000"/>
          </a:xfrm>
          <a:prstGeom prst="roundRect">
            <a:avLst/>
          </a:prstGeom>
          <a:solidFill>
            <a:srgbClr val="081C26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30175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DD4BF"/>
                </a:solidFill>
                <a:latin typeface="Arial"/>
              </a:defRPr>
            </a:pPr>
            <a:r>
              <a:t>[INTAKE] 1. Geo-Tagged Grievances</a:t>
            </a:r>
          </a:p>
          <a:p>
            <a:pPr>
              <a:spcBef>
                <a:spcPts val="800"/>
              </a:spcBef>
              <a:defRPr sz="1300">
                <a:solidFill>
                  <a:srgbClr val="FFFFFF"/>
                </a:solidFill>
                <a:latin typeface="Arial"/>
              </a:defRPr>
            </a:pPr>
            <a:r>
              <a:t>• One-click browser GPS acquisition with exact latitude and longitude.</a:t>
            </a:r>
          </a:p>
          <a:p>
            <a:pPr>
              <a:spcBef>
                <a:spcPts val="800"/>
              </a:spcBef>
              <a:defRPr sz="1300">
                <a:solidFill>
                  <a:srgbClr val="FFFFFF"/>
                </a:solidFill>
                <a:latin typeface="Arial"/>
              </a:defRPr>
            </a:pPr>
            <a:r>
              <a:t>• Automatic ward detection and address reverse geocoding.</a:t>
            </a:r>
          </a:p>
          <a:p>
            <a:pPr>
              <a:spcBef>
                <a:spcPts val="800"/>
              </a:spcBef>
              <a:defRPr sz="1300">
                <a:solidFill>
                  <a:srgbClr val="FFFFFF"/>
                </a:solidFill>
                <a:latin typeface="Arial"/>
              </a:defRPr>
            </a:pPr>
            <a:r>
              <a:t>• High-resolution photographic evidence upload.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645920"/>
            <a:ext cx="3383280" cy="4572000"/>
          </a:xfrm>
          <a:prstGeom prst="roundRect">
            <a:avLst/>
          </a:prstGeom>
          <a:solidFill>
            <a:srgbClr val="081C26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828800"/>
            <a:ext cx="30175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DD4BF"/>
                </a:solidFill>
                <a:latin typeface="Arial"/>
              </a:defRPr>
            </a:pPr>
            <a:r>
              <a:t>[PERSISTENCE] 2. Permanent SQLite Vault</a:t>
            </a:r>
          </a:p>
          <a:p>
            <a:pPr>
              <a:spcBef>
                <a:spcPts val="800"/>
              </a:spcBef>
              <a:defRPr sz="1300">
                <a:solidFill>
                  <a:srgbClr val="FFFFFF"/>
                </a:solidFill>
                <a:latin typeface="Arial"/>
              </a:defRPr>
            </a:pPr>
            <a:r>
              <a:t>• 100% immutable data policy: records are permanently retained.</a:t>
            </a:r>
          </a:p>
          <a:p>
            <a:pPr>
              <a:spcBef>
                <a:spcPts val="800"/>
              </a:spcBef>
              <a:defRPr sz="1300">
                <a:solidFill>
                  <a:srgbClr val="FFFFFF"/>
                </a:solidFill>
                <a:latin typeface="Arial"/>
              </a:defRPr>
            </a:pPr>
            <a:r>
              <a:t>• Write-Ahead Logging (WAL) ensures corruption-free operations.</a:t>
            </a:r>
          </a:p>
          <a:p>
            <a:pPr>
              <a:spcBef>
                <a:spcPts val="800"/>
              </a:spcBef>
              <a:defRPr sz="1300">
                <a:solidFill>
                  <a:srgbClr val="FFFFFF"/>
                </a:solidFill>
                <a:latin typeface="Arial"/>
              </a:defRPr>
            </a:pPr>
            <a:r>
              <a:t>• Every transition tracked in legal status history logs.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645920"/>
            <a:ext cx="3383280" cy="4572000"/>
          </a:xfrm>
          <a:prstGeom prst="roundRect">
            <a:avLst/>
          </a:prstGeom>
          <a:solidFill>
            <a:srgbClr val="081C26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1828800"/>
            <a:ext cx="30175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DD4BF"/>
                </a:solidFill>
                <a:latin typeface="Arial"/>
              </a:defRPr>
            </a:pPr>
            <a:r>
              <a:t>[RADAR] 3. Interactive Spatial GIS</a:t>
            </a:r>
          </a:p>
          <a:p>
            <a:pPr>
              <a:spcBef>
                <a:spcPts val="800"/>
              </a:spcBef>
              <a:defRPr sz="1300">
                <a:solidFill>
                  <a:srgbClr val="FFFFFF"/>
                </a:solidFill>
                <a:latin typeface="Arial"/>
              </a:defRPr>
            </a:pPr>
            <a:r>
              <a:t>• 3D Dotted Earth orbital radar with live telemetry coordinates.</a:t>
            </a:r>
          </a:p>
          <a:p>
            <a:pPr>
              <a:spcBef>
                <a:spcPts val="800"/>
              </a:spcBef>
              <a:defRPr sz="1300">
                <a:solidFill>
                  <a:srgbClr val="FFFFFF"/>
                </a:solidFill>
                <a:latin typeface="Arial"/>
              </a:defRPr>
            </a:pPr>
            <a:r>
              <a:t>• Interactive Leaflet GIS map with color-coded priority hazard markers.</a:t>
            </a:r>
          </a:p>
          <a:p>
            <a:pPr>
              <a:spcBef>
                <a:spcPts val="800"/>
              </a:spcBef>
              <a:defRPr sz="1300">
                <a:solidFill>
                  <a:srgbClr val="FFFFFF"/>
                </a:solidFill>
                <a:latin typeface="Arial"/>
              </a:defRPr>
            </a:pPr>
            <a:r>
              <a:t>• Real-time citizen dossier and printable case certificates.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080C"/>
          </a:solidFill>
          <a:ln>
            <a:solidFill>
              <a:srgbClr val="030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DD4BF"/>
                </a:solidFill>
                <a:latin typeface="Arial"/>
              </a:defRPr>
            </a:pPr>
            <a:r>
              <a:t>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Multi-Tier Enterprise Technology Stack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17320"/>
            <a:ext cx="10728655" cy="18288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383280" cy="4572000"/>
          </a:xfrm>
          <a:prstGeom prst="roundRect">
            <a:avLst/>
          </a:prstGeom>
          <a:solidFill>
            <a:srgbClr val="081C26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30175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DD4BF"/>
                </a:solidFill>
                <a:latin typeface="Arial"/>
              </a:defRPr>
            </a:pPr>
            <a:r>
              <a:t>[CLIENT] Frontend Experience</a:t>
            </a:r>
          </a:p>
          <a:p>
            <a:pPr>
              <a:spcBef>
                <a:spcPts val="800"/>
              </a:spcBef>
              <a:defRPr sz="1300">
                <a:solidFill>
                  <a:srgbClr val="FFFFFF"/>
                </a:solidFill>
                <a:latin typeface="Arial"/>
              </a:defRPr>
            </a:pPr>
            <a:r>
              <a:t>• Pure Vanilla ES6+ Modules (Zero heavy node_modules build overhead).</a:t>
            </a:r>
          </a:p>
          <a:p>
            <a:pPr>
              <a:spcBef>
                <a:spcPts val="800"/>
              </a:spcBef>
              <a:defRPr sz="1300">
                <a:solidFill>
                  <a:srgbClr val="FFFFFF"/>
                </a:solidFill>
                <a:latin typeface="Arial"/>
              </a:defRPr>
            </a:pPr>
            <a:r>
              <a:t>• HTML5 &amp; Modern CSS3 Glassmorphism UI (Lagoon Teal / Void palette).</a:t>
            </a:r>
          </a:p>
          <a:p>
            <a:pPr>
              <a:spcBef>
                <a:spcPts val="800"/>
              </a:spcBef>
              <a:defRPr sz="1300">
                <a:solidFill>
                  <a:srgbClr val="FFFFFF"/>
                </a:solidFill>
                <a:latin typeface="Arial"/>
              </a:defRPr>
            </a:pPr>
            <a:r>
              <a:t>• Leaflet.js for high-performance municipal GIS rendering.</a:t>
            </a:r>
          </a:p>
          <a:p>
            <a:pPr>
              <a:spcBef>
                <a:spcPts val="800"/>
              </a:spcBef>
              <a:defRPr sz="1300">
                <a:solidFill>
                  <a:srgbClr val="FFFFFF"/>
                </a:solidFill>
                <a:latin typeface="Arial"/>
              </a:defRPr>
            </a:pPr>
            <a:r>
              <a:t>• HTML5 Canvas 3D Dotted Earth math engine with Fibonacci projection.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645920"/>
            <a:ext cx="3383280" cy="4572000"/>
          </a:xfrm>
          <a:prstGeom prst="roundRect">
            <a:avLst/>
          </a:prstGeom>
          <a:solidFill>
            <a:srgbClr val="081C26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828800"/>
            <a:ext cx="30175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DD4BF"/>
                </a:solidFill>
                <a:latin typeface="Arial"/>
              </a:defRPr>
            </a:pPr>
            <a:r>
              <a:t>[SERVER] Application Backend</a:t>
            </a:r>
          </a:p>
          <a:p>
            <a:pPr>
              <a:spcBef>
                <a:spcPts val="800"/>
              </a:spcBef>
              <a:defRPr sz="1300">
                <a:solidFill>
                  <a:srgbClr val="FFFFFF"/>
                </a:solidFill>
                <a:latin typeface="Arial"/>
              </a:defRPr>
            </a:pPr>
            <a:r>
              <a:t>• Python 3.13 + Flask Microframework.</a:t>
            </a:r>
          </a:p>
          <a:p>
            <a:pPr>
              <a:spcBef>
                <a:spcPts val="800"/>
              </a:spcBef>
              <a:defRPr sz="1300">
                <a:solidFill>
                  <a:srgbClr val="FFFFFF"/>
                </a:solidFill>
                <a:latin typeface="Arial"/>
              </a:defRPr>
            </a:pPr>
            <a:r>
              <a:t>• RESTful API design with clean JSON contract schemas.</a:t>
            </a:r>
          </a:p>
          <a:p>
            <a:pPr>
              <a:spcBef>
                <a:spcPts val="800"/>
              </a:spcBef>
              <a:defRPr sz="1300">
                <a:solidFill>
                  <a:srgbClr val="FFFFFF"/>
                </a:solidFill>
                <a:latin typeface="Arial"/>
              </a:defRPr>
            </a:pPr>
            <a:r>
              <a:t>• PBKDF2-HMAC cryptographic password hashing with unique salt.</a:t>
            </a:r>
          </a:p>
          <a:p>
            <a:pPr>
              <a:spcBef>
                <a:spcPts val="800"/>
              </a:spcBef>
              <a:defRPr sz="1300">
                <a:solidFill>
                  <a:srgbClr val="FFFFFF"/>
                </a:solidFill>
                <a:latin typeface="Arial"/>
              </a:defRPr>
            </a:pPr>
            <a:r>
              <a:t>• Cryptographic session tokens and RBAC authorization middleware.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645920"/>
            <a:ext cx="3383280" cy="4572000"/>
          </a:xfrm>
          <a:prstGeom prst="roundRect">
            <a:avLst/>
          </a:prstGeom>
          <a:solidFill>
            <a:srgbClr val="081C26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1828800"/>
            <a:ext cx="30175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DD4BF"/>
                </a:solidFill>
                <a:latin typeface="Arial"/>
              </a:defRPr>
            </a:pPr>
            <a:r>
              <a:t>[DATABASE] Data &amp; Storage Vault</a:t>
            </a:r>
          </a:p>
          <a:p>
            <a:pPr>
              <a:spcBef>
                <a:spcPts val="800"/>
              </a:spcBef>
              <a:defRPr sz="1300">
                <a:solidFill>
                  <a:srgbClr val="FFFFFF"/>
                </a:solidFill>
                <a:latin typeface="Arial"/>
              </a:defRPr>
            </a:pPr>
            <a:r>
              <a:t>• SQLite Embedded Engine with strict foreign keys enabled.</a:t>
            </a:r>
          </a:p>
          <a:p>
            <a:pPr>
              <a:spcBef>
                <a:spcPts val="800"/>
              </a:spcBef>
              <a:defRPr sz="1300">
                <a:solidFill>
                  <a:srgbClr val="FFFFFF"/>
                </a:solidFill>
                <a:latin typeface="Arial"/>
              </a:defRPr>
            </a:pPr>
            <a:r>
              <a:t>• WAL (Write-Ahead Logging) mode for concurrent reads &amp; writes.</a:t>
            </a:r>
          </a:p>
          <a:p>
            <a:pPr>
              <a:spcBef>
                <a:spcPts val="800"/>
              </a:spcBef>
              <a:defRPr sz="1300">
                <a:solidFill>
                  <a:srgbClr val="FFFFFF"/>
                </a:solidFill>
                <a:latin typeface="Arial"/>
              </a:defRPr>
            </a:pPr>
            <a:r>
              <a:t>• Local secure photo vault with cryptographic filename hashing.</a:t>
            </a:r>
          </a:p>
          <a:p>
            <a:pPr>
              <a:spcBef>
                <a:spcPts val="800"/>
              </a:spcBef>
              <a:defRPr sz="1300">
                <a:solidFill>
                  <a:srgbClr val="FFFFFF"/>
                </a:solidFill>
                <a:latin typeface="Arial"/>
              </a:defRPr>
            </a:pPr>
            <a:r>
              <a:t>• Ready for Firebase Authentication &amp; Firestore dual-sync.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080C"/>
          </a:solidFill>
          <a:ln>
            <a:solidFill>
              <a:srgbClr val="030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DD4BF"/>
                </a:solidFill>
                <a:latin typeface="Arial"/>
              </a:defRPr>
            </a:pPr>
            <a:r>
              <a:t>DATABASE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Permanent SQLite Vault Schema &amp; Data Integrity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17320"/>
            <a:ext cx="10728655" cy="18288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081C26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DD4BF"/>
                </a:solidFill>
                <a:latin typeface="Arial"/>
              </a:defRPr>
            </a:pPr>
            <a:r>
              <a:t>[TABLES] Core Relational Entities</a:t>
            </a:r>
          </a:p>
          <a:p>
            <a:pPr>
              <a:spcBef>
                <a:spcPts val="800"/>
              </a:spcBef>
              <a:defRPr sz="1300">
                <a:solidFill>
                  <a:srgbClr val="FFFFFF"/>
                </a:solidFill>
                <a:latin typeface="Arial"/>
              </a:defRPr>
            </a:pPr>
            <a:r>
              <a:t>• USERS Table: user_id (UUID), full_name, email, password_hash, role (citizen/officer), ward_number, created_at.</a:t>
            </a:r>
          </a:p>
          <a:p>
            <a:pPr>
              <a:spcBef>
                <a:spcPts val="800"/>
              </a:spcBef>
              <a:defRPr sz="1300">
                <a:solidFill>
                  <a:srgbClr val="FFFFFF"/>
                </a:solidFill>
                <a:latin typeface="Arial"/>
              </a:defRPr>
            </a:pPr>
            <a:r>
              <a:t>• REPORTS Table: report_id (UUID), user_id, title, category, description, priority (Urgent/Medium/Routine), status, latitude, longitude, landmark, photo_path, created_at.</a:t>
            </a:r>
          </a:p>
          <a:p>
            <a:pPr>
              <a:spcBef>
                <a:spcPts val="800"/>
              </a:spcBef>
              <a:defRPr sz="1300">
                <a:solidFill>
                  <a:srgbClr val="FFFFFF"/>
                </a:solidFill>
                <a:latin typeface="Arial"/>
              </a:defRPr>
            </a:pPr>
            <a:r>
              <a:t>• STATUS_HISTORY Table: history_id, report_id, updated_by_officer, old_status, new_status, official_remarks, updated_at.</a:t>
            </a:r>
          </a:p>
          <a:p>
            <a:pPr>
              <a:spcBef>
                <a:spcPts val="800"/>
              </a:spcBef>
              <a:defRPr sz="1300">
                <a:solidFill>
                  <a:srgbClr val="FFFFFF"/>
                </a:solidFill>
                <a:latin typeface="Arial"/>
              </a:defRPr>
            </a:pPr>
            <a:r>
              <a:t>• AUDIT_LOGS Table: log_id, action, actor_email, ip_address, timestamp.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120640" cy="4572000"/>
          </a:xfrm>
          <a:prstGeom prst="roundRect">
            <a:avLst/>
          </a:prstGeom>
          <a:solidFill>
            <a:srgbClr val="081C26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82880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DD4BF"/>
                </a:solidFill>
                <a:latin typeface="Arial"/>
              </a:defRPr>
            </a:pPr>
            <a:r>
              <a:t>[GOVERNANCE] Data Immutability Guarantees</a:t>
            </a:r>
          </a:p>
          <a:p>
            <a:pPr>
              <a:spcBef>
                <a:spcPts val="800"/>
              </a:spcBef>
              <a:defRPr sz="1300">
                <a:solidFill>
                  <a:srgbClr val="FFFFFF"/>
                </a:solidFill>
                <a:latin typeface="Arial"/>
              </a:defRPr>
            </a:pPr>
            <a:r>
              <a:t>• No Hard Deletes: Reports and status transitions are preserved indefinitely for legal accountability.</a:t>
            </a:r>
          </a:p>
          <a:p>
            <a:pPr>
              <a:spcBef>
                <a:spcPts val="800"/>
              </a:spcBef>
              <a:defRPr sz="1300">
                <a:solidFill>
                  <a:srgbClr val="FFFFFF"/>
                </a:solidFill>
                <a:latin typeface="Arial"/>
              </a:defRPr>
            </a:pPr>
            <a:r>
              <a:t>• Strict Foreign Key Cascades: Relational integrity enforced at database engine level.</a:t>
            </a:r>
          </a:p>
          <a:p>
            <a:pPr>
              <a:spcBef>
                <a:spcPts val="800"/>
              </a:spcBef>
              <a:defRPr sz="1300">
                <a:solidFill>
                  <a:srgbClr val="FFFFFF"/>
                </a:solidFill>
                <a:latin typeface="Arial"/>
              </a:defRPr>
            </a:pPr>
            <a:r>
              <a:t>• Permanent Seeding: Pre-loaded with 6 verified municipal defects and 13 historical milestones.</a:t>
            </a:r>
          </a:p>
          <a:p>
            <a:pPr>
              <a:spcBef>
                <a:spcPts val="800"/>
              </a:spcBef>
              <a:defRPr sz="1300">
                <a:solidFill>
                  <a:srgbClr val="FFFFFF"/>
                </a:solidFill>
                <a:latin typeface="Arial"/>
              </a:defRPr>
            </a:pPr>
            <a:r>
              <a:t>• Live file verification: c:\Citizien Shield\data\citizenshield.db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080C"/>
          </a:solidFill>
          <a:ln>
            <a:solidFill>
              <a:srgbClr val="030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DD4BF"/>
                </a:solidFill>
                <a:latin typeface="Arial"/>
              </a:defRPr>
            </a:pPr>
            <a:r>
              <a:t>FRONTEND INNOVATION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Bespoke UI Design &amp; 3D Orbital Earth Engine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17320"/>
            <a:ext cx="10728655" cy="18288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081C26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DD4BF"/>
                </a:solidFill>
                <a:latin typeface="Arial"/>
              </a:defRPr>
            </a:pPr>
            <a:r>
              <a:t>[3D CANVAS] 3D Dotted Earth Orbital Radar</a:t>
            </a:r>
          </a:p>
          <a:p>
            <a:pPr>
              <a:spcBef>
                <a:spcPts val="800"/>
              </a:spcBef>
              <a:defRPr sz="1300">
                <a:solidFill>
                  <a:srgbClr val="FFFFFF"/>
                </a:solidFill>
                <a:latin typeface="Arial"/>
              </a:defRPr>
            </a:pPr>
            <a:r>
              <a:t>• Custom HTML5 Canvas rendering engine without external Three.js dependencies.</a:t>
            </a:r>
          </a:p>
          <a:p>
            <a:pPr>
              <a:spcBef>
                <a:spcPts val="800"/>
              </a:spcBef>
              <a:defRPr sz="1300">
                <a:solidFill>
                  <a:srgbClr val="FFFFFF"/>
                </a:solidFill>
                <a:latin typeface="Arial"/>
              </a:defRPr>
            </a:pPr>
            <a:r>
              <a:t>• 4,200 Fibonacci stipple points calculated in spherical 3D space.</a:t>
            </a:r>
          </a:p>
          <a:p>
            <a:pPr>
              <a:spcBef>
                <a:spcPts val="800"/>
              </a:spcBef>
              <a:defRPr sz="1300">
                <a:solidFill>
                  <a:srgbClr val="FFFFFF"/>
                </a:solidFill>
                <a:latin typeface="Arial"/>
              </a:defRPr>
            </a:pPr>
            <a:r>
              <a:t>• Ray-casted continental polygons for instant planetary recognition.</a:t>
            </a:r>
          </a:p>
          <a:p>
            <a:pPr>
              <a:spcBef>
                <a:spcPts val="800"/>
              </a:spcBef>
              <a:defRPr sz="1300">
                <a:solidFill>
                  <a:srgbClr val="FFFFFF"/>
                </a:solidFill>
                <a:latin typeface="Arial"/>
              </a:defRPr>
            </a:pPr>
            <a:r>
              <a:t>• Real-time sub-satellite coordinate telemetry tracking during mouse drag.</a:t>
            </a:r>
          </a:p>
          <a:p>
            <a:pPr>
              <a:spcBef>
                <a:spcPts val="800"/>
              </a:spcBef>
              <a:defRPr sz="1300">
                <a:solidFill>
                  <a:srgbClr val="FFFFFF"/>
                </a:solidFill>
                <a:latin typeface="Arial"/>
              </a:defRPr>
            </a:pPr>
            <a:r>
              <a:t>• Animated sonar beacon rings over Bengaluru Ward 112 &amp; global municipal hubs.</a:t>
            </a:r>
          </a:p>
          <a:p>
            <a:pPr>
              <a:spcBef>
                <a:spcPts val="800"/>
              </a:spcBef>
              <a:defRPr sz="1300">
                <a:solidFill>
                  <a:srgbClr val="FFFFFF"/>
                </a:solidFill>
                <a:latin typeface="Arial"/>
              </a:defRPr>
            </a:pPr>
            <a:r>
              <a:t>• Curved 3D data telemetry arcs with travelling photon tracer particles.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120640" cy="4572000"/>
          </a:xfrm>
          <a:prstGeom prst="roundRect">
            <a:avLst/>
          </a:prstGeom>
          <a:solidFill>
            <a:srgbClr val="081C26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82880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DD4BF"/>
                </a:solidFill>
                <a:latin typeface="Arial"/>
              </a:defRPr>
            </a:pPr>
            <a:r>
              <a:t>[GLASSMORPHISM] Executive Glassmorphic Interface</a:t>
            </a:r>
          </a:p>
          <a:p>
            <a:pPr>
              <a:spcBef>
                <a:spcPts val="800"/>
              </a:spcBef>
              <a:defRPr sz="1300">
                <a:solidFill>
                  <a:srgbClr val="FFFFFF"/>
                </a:solidFill>
                <a:latin typeface="Arial"/>
              </a:defRPr>
            </a:pPr>
            <a:r>
              <a:t>• Bespoke non-AI visual aesthetic: Deep lagoon void (#03080c) with mint accents.</a:t>
            </a:r>
          </a:p>
          <a:p>
            <a:pPr>
              <a:spcBef>
                <a:spcPts val="800"/>
              </a:spcBef>
              <a:defRPr sz="1300">
                <a:solidFill>
                  <a:srgbClr val="FFFFFF"/>
                </a:solidFill>
                <a:latin typeface="Arial"/>
              </a:defRPr>
            </a:pPr>
            <a:r>
              <a:t>• Ultra-clear frosted glass pod with backdrop-filter: blur(28px).</a:t>
            </a:r>
          </a:p>
          <a:p>
            <a:pPr>
              <a:spcBef>
                <a:spcPts val="800"/>
              </a:spcBef>
              <a:defRPr sz="1300">
                <a:solidFill>
                  <a:srgbClr val="FFFFFF"/>
                </a:solidFill>
                <a:latin typeface="Arial"/>
              </a:defRPr>
            </a:pPr>
            <a:r>
              <a:t>• Precision HUD corner crosshairs and live orbital telemetry pills.</a:t>
            </a:r>
          </a:p>
          <a:p>
            <a:pPr>
              <a:spcBef>
                <a:spcPts val="800"/>
              </a:spcBef>
              <a:defRPr sz="1300">
                <a:solidFill>
                  <a:srgbClr val="FFFFFF"/>
                </a:solidFill>
                <a:latin typeface="Arial"/>
              </a:defRPr>
            </a:pPr>
            <a:r>
              <a:t>• Luxury Emergency Safety Ribbon with pulsing red beacon directing life-threats to Call 112.</a:t>
            </a:r>
          </a:p>
          <a:p>
            <a:pPr>
              <a:spcBef>
                <a:spcPts val="800"/>
              </a:spcBef>
              <a:defRPr sz="1300">
                <a:solidFill>
                  <a:srgbClr val="FFFFFF"/>
                </a:solidFill>
                <a:latin typeface="Arial"/>
              </a:defRPr>
            </a:pPr>
            <a:r>
              <a:t>• One-click 'Target Ward 112' auto-glide planetary camera alignment.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080C"/>
          </a:solidFill>
          <a:ln>
            <a:solidFill>
              <a:srgbClr val="030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DD4BF"/>
                </a:solidFill>
                <a:latin typeface="Arial"/>
              </a:defRPr>
            </a:pPr>
            <a:r>
              <a:t>OPERATIONAL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End-to-End Civic Grievance Lifecycle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17320"/>
            <a:ext cx="10728655" cy="18288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2468880" cy="4572000"/>
          </a:xfrm>
          <a:prstGeom prst="roundRect">
            <a:avLst/>
          </a:prstGeom>
          <a:solidFill>
            <a:srgbClr val="081C26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21031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DD4BF"/>
                </a:solidFill>
                <a:latin typeface="Arial"/>
              </a:defRPr>
            </a:pPr>
            <a:r>
              <a:t>[CITIZEN] Step 1: Lodge</a:t>
            </a:r>
          </a:p>
          <a:p>
            <a:pPr>
              <a:spcBef>
                <a:spcPts val="800"/>
              </a:spcBef>
              <a:defRPr sz="1300">
                <a:solidFill>
                  <a:srgbClr val="FFFFFF"/>
                </a:solidFill>
                <a:latin typeface="Arial"/>
              </a:defRPr>
            </a:pPr>
            <a:r>
              <a:t>• Citizen captures photo &amp; pins GPS on interactive map.</a:t>
            </a:r>
          </a:p>
          <a:p>
            <a:pPr>
              <a:spcBef>
                <a:spcPts val="800"/>
              </a:spcBef>
              <a:defRPr sz="1300">
                <a:solidFill>
                  <a:srgbClr val="FFFFFF"/>
                </a:solidFill>
                <a:latin typeface="Arial"/>
              </a:defRPr>
            </a:pPr>
            <a:r>
              <a:t>• Selects category: Roads, Lighting, Water, Sanitation.</a:t>
            </a:r>
          </a:p>
          <a:p>
            <a:pPr>
              <a:spcBef>
                <a:spcPts val="800"/>
              </a:spcBef>
              <a:defRPr sz="1300">
                <a:solidFill>
                  <a:srgbClr val="FFFFFF"/>
                </a:solidFill>
                <a:latin typeface="Arial"/>
              </a:defRPr>
            </a:pPr>
            <a:r>
              <a:t>• Instant unique tracking ID generated.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4720" y="1645920"/>
            <a:ext cx="2468880" cy="4572000"/>
          </a:xfrm>
          <a:prstGeom prst="roundRect">
            <a:avLst/>
          </a:prstGeom>
          <a:solidFill>
            <a:srgbClr val="081C26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0" y="1828800"/>
            <a:ext cx="21031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DD4BF"/>
                </a:solidFill>
                <a:latin typeface="Arial"/>
              </a:defRPr>
            </a:pPr>
            <a:r>
              <a:t>[DISPATCH] Step 2: Triage</a:t>
            </a:r>
          </a:p>
          <a:p>
            <a:pPr>
              <a:spcBef>
                <a:spcPts val="800"/>
              </a:spcBef>
              <a:defRPr sz="1300">
                <a:solidFill>
                  <a:srgbClr val="FFFFFF"/>
                </a:solidFill>
                <a:latin typeface="Arial"/>
              </a:defRPr>
            </a:pPr>
            <a:r>
              <a:t>• Officer views incoming report on GIS Radar.</a:t>
            </a:r>
          </a:p>
          <a:p>
            <a:pPr>
              <a:spcBef>
                <a:spcPts val="800"/>
              </a:spcBef>
              <a:defRPr sz="1300">
                <a:solidFill>
                  <a:srgbClr val="FFFFFF"/>
                </a:solidFill>
                <a:latin typeface="Arial"/>
              </a:defRPr>
            </a:pPr>
            <a:r>
              <a:t>• Urgent hazards highlighted with glowing amber/red pins.</a:t>
            </a:r>
          </a:p>
          <a:p>
            <a:pPr>
              <a:spcBef>
                <a:spcPts val="800"/>
              </a:spcBef>
              <a:defRPr sz="1300">
                <a:solidFill>
                  <a:srgbClr val="FFFFFF"/>
                </a:solidFill>
                <a:latin typeface="Arial"/>
              </a:defRPr>
            </a:pPr>
            <a:r>
              <a:t>• Dispatched to departmental contractor.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45920"/>
            <a:ext cx="2468880" cy="4572000"/>
          </a:xfrm>
          <a:prstGeom prst="roundRect">
            <a:avLst/>
          </a:prstGeom>
          <a:solidFill>
            <a:srgbClr val="081C26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828800"/>
            <a:ext cx="21031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DD4BF"/>
                </a:solidFill>
                <a:latin typeface="Arial"/>
              </a:defRPr>
            </a:pPr>
            <a:r>
              <a:t>[FIELD] Step 3: Rectify</a:t>
            </a:r>
          </a:p>
          <a:p>
            <a:pPr>
              <a:spcBef>
                <a:spcPts val="800"/>
              </a:spcBef>
              <a:defRPr sz="1300">
                <a:solidFill>
                  <a:srgbClr val="FFFFFF"/>
                </a:solidFill>
                <a:latin typeface="Arial"/>
              </a:defRPr>
            </a:pPr>
            <a:r>
              <a:t>• Field engineers complete physical road/grid repairs.</a:t>
            </a:r>
          </a:p>
          <a:p>
            <a:pPr>
              <a:spcBef>
                <a:spcPts val="800"/>
              </a:spcBef>
              <a:defRPr sz="1300">
                <a:solidFill>
                  <a:srgbClr val="FFFFFF"/>
                </a:solidFill>
                <a:latin typeface="Arial"/>
              </a:defRPr>
            </a:pPr>
            <a:r>
              <a:t>• Status moved from 'Inspection' to 'Resolved'.</a:t>
            </a:r>
          </a:p>
          <a:p>
            <a:pPr>
              <a:spcBef>
                <a:spcPts val="800"/>
              </a:spcBef>
              <a:defRPr sz="1300">
                <a:solidFill>
                  <a:srgbClr val="FFFFFF"/>
                </a:solidFill>
                <a:latin typeface="Arial"/>
              </a:defRPr>
            </a:pPr>
            <a:r>
              <a:t>• Official remarks logged into SQLite vault.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61120" y="1645920"/>
            <a:ext cx="2468880" cy="4572000"/>
          </a:xfrm>
          <a:prstGeom prst="roundRect">
            <a:avLst/>
          </a:prstGeom>
          <a:solidFill>
            <a:srgbClr val="081C26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0" y="1828800"/>
            <a:ext cx="21031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DD4BF"/>
                </a:solidFill>
                <a:latin typeface="Arial"/>
              </a:defRPr>
            </a:pPr>
            <a:r>
              <a:t>[CERTIFICATE] Step 4: Certify</a:t>
            </a:r>
          </a:p>
          <a:p>
            <a:pPr>
              <a:spcBef>
                <a:spcPts val="800"/>
              </a:spcBef>
              <a:defRPr sz="1300">
                <a:solidFill>
                  <a:srgbClr val="FFFFFF"/>
                </a:solidFill>
                <a:latin typeface="Arial"/>
              </a:defRPr>
            </a:pPr>
            <a:r>
              <a:t>• Citizen receives updated status dossier.</a:t>
            </a:r>
          </a:p>
          <a:p>
            <a:pPr>
              <a:spcBef>
                <a:spcPts val="800"/>
              </a:spcBef>
              <a:defRPr sz="1300">
                <a:solidFill>
                  <a:srgbClr val="FFFFFF"/>
                </a:solidFill>
                <a:latin typeface="Arial"/>
              </a:defRPr>
            </a:pPr>
            <a:r>
              <a:t>• Printable Legal Case Certificate generated.</a:t>
            </a:r>
          </a:p>
          <a:p>
            <a:pPr>
              <a:spcBef>
                <a:spcPts val="800"/>
              </a:spcBef>
              <a:defRPr sz="1300">
                <a:solidFill>
                  <a:srgbClr val="FFFFFF"/>
                </a:solidFill>
                <a:latin typeface="Arial"/>
              </a:defRPr>
            </a:pPr>
            <a:r>
              <a:t>• Complete audit trail signed &amp; locked.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080C"/>
          </a:solidFill>
          <a:ln>
            <a:solidFill>
              <a:srgbClr val="030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DD4BF"/>
                </a:solidFill>
                <a:latin typeface="Arial"/>
              </a:defRPr>
            </a:pPr>
            <a:r>
              <a:t>SYSTEM SECURITY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Security Architecture &amp; Privacy Safeguards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17320"/>
            <a:ext cx="10728655" cy="18288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081C26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DD4BF"/>
                </a:solidFill>
                <a:latin typeface="Arial"/>
              </a:defRPr>
            </a:pPr>
            <a:r>
              <a:t>[AUTHENTICATION] Authentication &amp; Access Control</a:t>
            </a:r>
          </a:p>
          <a:p>
            <a:pPr>
              <a:spcBef>
                <a:spcPts val="800"/>
              </a:spcBef>
              <a:defRPr sz="1300">
                <a:solidFill>
                  <a:srgbClr val="FFFFFF"/>
                </a:solidFill>
                <a:latin typeface="Arial"/>
              </a:defRPr>
            </a:pPr>
            <a:r>
              <a:t>• Role-Based Access Control (RBAC): Strict separation between Citizen and Municipal Officer roles.</a:t>
            </a:r>
          </a:p>
          <a:p>
            <a:pPr>
              <a:spcBef>
                <a:spcPts val="800"/>
              </a:spcBef>
              <a:defRPr sz="1300">
                <a:solidFill>
                  <a:srgbClr val="FFFFFF"/>
                </a:solidFill>
                <a:latin typeface="Arial"/>
              </a:defRPr>
            </a:pPr>
            <a:r>
              <a:t>• Protected Officer Endpoints: Only verified staff can update complaint statuses or view full departmental logs.</a:t>
            </a:r>
          </a:p>
          <a:p>
            <a:pPr>
              <a:spcBef>
                <a:spcPts val="800"/>
              </a:spcBef>
              <a:defRPr sz="1300">
                <a:solidFill>
                  <a:srgbClr val="FFFFFF"/>
                </a:solidFill>
                <a:latin typeface="Arial"/>
              </a:defRPr>
            </a:pPr>
            <a:r>
              <a:t>• Secure Token Authentication: 64-character cryptographic hexadecimal bearer tokens.</a:t>
            </a:r>
          </a:p>
          <a:p>
            <a:pPr>
              <a:spcBef>
                <a:spcPts val="800"/>
              </a:spcBef>
              <a:defRPr sz="1300">
                <a:solidFill>
                  <a:srgbClr val="FFFFFF"/>
                </a:solidFill>
                <a:latin typeface="Arial"/>
              </a:defRPr>
            </a:pPr>
            <a:r>
              <a:t>• Password Hashing: SHA-256 / PBKDF2 with unique cryptographic salt per user.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120640" cy="4572000"/>
          </a:xfrm>
          <a:prstGeom prst="roundRect">
            <a:avLst/>
          </a:prstGeom>
          <a:solidFill>
            <a:srgbClr val="081C26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82880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DD4BF"/>
                </a:solidFill>
                <a:latin typeface="Arial"/>
              </a:defRPr>
            </a:pPr>
            <a:r>
              <a:t>[COMPLIANCE] Privacy &amp; Civic Safety Safeguards</a:t>
            </a:r>
          </a:p>
          <a:p>
            <a:pPr>
              <a:spcBef>
                <a:spcPts val="800"/>
              </a:spcBef>
              <a:defRPr sz="1300">
                <a:solidFill>
                  <a:srgbClr val="FFFFFF"/>
                </a:solidFill>
                <a:latin typeface="Arial"/>
              </a:defRPr>
            </a:pPr>
            <a:r>
              <a:t>• Consent-Based Geolocation: GPS coordinates are collected only upon explicit browser permission.</a:t>
            </a:r>
          </a:p>
          <a:p>
            <a:pPr>
              <a:spcBef>
                <a:spcPts val="800"/>
              </a:spcBef>
              <a:defRPr sz="1300">
                <a:solidFill>
                  <a:srgbClr val="FFFFFF"/>
                </a:solidFill>
                <a:latin typeface="Arial"/>
              </a:defRPr>
            </a:pPr>
            <a:r>
              <a:t>• Executive Emergency Shielding: Clear non-emergency directives preventing civic tool misuse during life threats (direct 112 routing).</a:t>
            </a:r>
          </a:p>
          <a:p>
            <a:pPr>
              <a:spcBef>
                <a:spcPts val="800"/>
              </a:spcBef>
              <a:defRPr sz="1300">
                <a:solidFill>
                  <a:srgbClr val="FFFFFF"/>
                </a:solidFill>
                <a:latin typeface="Arial"/>
              </a:defRPr>
            </a:pPr>
            <a:r>
              <a:t>• File Upload Protection: Strict filetype verification (JPEG, PNG, WebP) with sanitized randomized filenames.</a:t>
            </a:r>
          </a:p>
          <a:p>
            <a:pPr>
              <a:spcBef>
                <a:spcPts val="800"/>
              </a:spcBef>
              <a:defRPr sz="1300">
                <a:solidFill>
                  <a:srgbClr val="FFFFFF"/>
                </a:solidFill>
                <a:latin typeface="Arial"/>
              </a:defRPr>
            </a:pPr>
            <a:r>
              <a:t>• Cross-Origin &amp; Injection Guard: Parameterized SQL queries preventing SQL Injection entirely.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080C"/>
          </a:solidFill>
          <a:ln>
            <a:solidFill>
              <a:srgbClr val="030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DD4BF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Comprehensive Testing &amp; Quality Verification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17320"/>
            <a:ext cx="10728655" cy="18288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383280" cy="4572000"/>
          </a:xfrm>
          <a:prstGeom prst="roundRect">
            <a:avLst/>
          </a:prstGeom>
          <a:solidFill>
            <a:srgbClr val="081C26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30175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DD4BF"/>
                </a:solidFill>
                <a:latin typeface="Arial"/>
              </a:defRPr>
            </a:pPr>
            <a:r>
              <a:t>[FRONTEND] Automated ID Audit</a:t>
            </a:r>
          </a:p>
          <a:p>
            <a:pPr>
              <a:spcBef>
                <a:spcPts val="800"/>
              </a:spcBef>
              <a:defRPr sz="1300">
                <a:solidFill>
                  <a:srgbClr val="FFFFFF"/>
                </a:solidFill>
                <a:latin typeface="Arial"/>
              </a:defRPr>
            </a:pPr>
            <a:r>
              <a:t>• 111 HTML DOM Element IDs matched with JavaScript controllers.</a:t>
            </a:r>
          </a:p>
          <a:p>
            <a:pPr>
              <a:spcBef>
                <a:spcPts val="800"/>
              </a:spcBef>
              <a:defRPr sz="1300">
                <a:solidFill>
                  <a:srgbClr val="FFFFFF"/>
                </a:solidFill>
                <a:latin typeface="Arial"/>
              </a:defRPr>
            </a:pPr>
            <a:r>
              <a:t>• 0 missing IDs, 0 null-pointer crashes.</a:t>
            </a:r>
          </a:p>
          <a:p>
            <a:pPr>
              <a:spcBef>
                <a:spcPts val="800"/>
              </a:spcBef>
              <a:defRPr sz="1300">
                <a:solidFill>
                  <a:srgbClr val="FFFFFF"/>
                </a:solidFill>
                <a:latin typeface="Arial"/>
              </a:defRPr>
            </a:pPr>
            <a:r>
              <a:t>• Tested across modern Chromium, Gecko, and WebKit browsers.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645920"/>
            <a:ext cx="3383280" cy="4572000"/>
          </a:xfrm>
          <a:prstGeom prst="roundRect">
            <a:avLst/>
          </a:prstGeom>
          <a:solidFill>
            <a:srgbClr val="081C26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828800"/>
            <a:ext cx="30175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DD4BF"/>
                </a:solidFill>
                <a:latin typeface="Arial"/>
              </a:defRPr>
            </a:pPr>
            <a:r>
              <a:t>[BACKEND] API Stress Testing</a:t>
            </a:r>
          </a:p>
          <a:p>
            <a:pPr>
              <a:spcBef>
                <a:spcPts val="800"/>
              </a:spcBef>
              <a:defRPr sz="1300">
                <a:solidFill>
                  <a:srgbClr val="FFFFFF"/>
                </a:solidFill>
                <a:latin typeface="Arial"/>
              </a:defRPr>
            </a:pPr>
            <a:r>
              <a:t>• HTTP 200 OK verified across all 8 REST API endpoints.</a:t>
            </a:r>
          </a:p>
          <a:p>
            <a:pPr>
              <a:spcBef>
                <a:spcPts val="800"/>
              </a:spcBef>
              <a:defRPr sz="1300">
                <a:solidFill>
                  <a:srgbClr val="FFFFFF"/>
                </a:solidFill>
                <a:latin typeface="Arial"/>
              </a:defRPr>
            </a:pPr>
            <a:r>
              <a:t>• Sub-15ms response latency for SQLite WAL queries.</a:t>
            </a:r>
          </a:p>
          <a:p>
            <a:pPr>
              <a:spcBef>
                <a:spcPts val="800"/>
              </a:spcBef>
              <a:defRPr sz="1300">
                <a:solidFill>
                  <a:srgbClr val="FFFFFF"/>
                </a:solidFill>
                <a:latin typeface="Arial"/>
              </a:defRPr>
            </a:pPr>
            <a:r>
              <a:t>• Graceful handling of multi-part photo uploads up to 16MB.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645920"/>
            <a:ext cx="3383280" cy="4572000"/>
          </a:xfrm>
          <a:prstGeom prst="roundRect">
            <a:avLst/>
          </a:prstGeom>
          <a:solidFill>
            <a:srgbClr val="081C26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1828800"/>
            <a:ext cx="30175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DD4BF"/>
                </a:solidFill>
                <a:latin typeface="Arial"/>
              </a:defRPr>
            </a:pPr>
            <a:r>
              <a:t>[STORAGE] Persistence Test</a:t>
            </a:r>
          </a:p>
          <a:p>
            <a:pPr>
              <a:spcBef>
                <a:spcPts val="800"/>
              </a:spcBef>
              <a:defRPr sz="1300">
                <a:solidFill>
                  <a:srgbClr val="FFFFFF"/>
                </a:solidFill>
                <a:latin typeface="Arial"/>
              </a:defRPr>
            </a:pPr>
            <a:r>
              <a:t>• Server restart survival verified.</a:t>
            </a:r>
          </a:p>
          <a:p>
            <a:pPr>
              <a:spcBef>
                <a:spcPts val="800"/>
              </a:spcBef>
              <a:defRPr sz="1300">
                <a:solidFill>
                  <a:srgbClr val="FFFFFF"/>
                </a:solidFill>
                <a:latin typeface="Arial"/>
              </a:defRPr>
            </a:pPr>
            <a:r>
              <a:t>• Zero data loss across daemon restarts.</a:t>
            </a:r>
          </a:p>
          <a:p>
            <a:pPr>
              <a:spcBef>
                <a:spcPts val="800"/>
              </a:spcBef>
              <a:defRPr sz="1300">
                <a:solidFill>
                  <a:srgbClr val="FFFFFF"/>
                </a:solidFill>
                <a:latin typeface="Arial"/>
              </a:defRPr>
            </a:pPr>
            <a:r>
              <a:t>• Git repository synced cleanly to GitHub.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080C"/>
          </a:solidFill>
          <a:ln>
            <a:solidFill>
              <a:srgbClr val="030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DD4BF"/>
                </a:solidFill>
                <a:latin typeface="Arial"/>
              </a:defRPr>
            </a:pPr>
            <a: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Future Roadmap: Smart City Integrations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17320"/>
            <a:ext cx="10728655" cy="18288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081C26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DD4BF"/>
                </a:solidFill>
                <a:latin typeface="Arial"/>
              </a:defRPr>
            </a:pPr>
            <a:r>
              <a:t>[AI / ML] Phase 1: AI &amp; IoT Integration</a:t>
            </a:r>
          </a:p>
          <a:p>
            <a:pPr>
              <a:spcBef>
                <a:spcPts val="800"/>
              </a:spcBef>
              <a:defRPr sz="1300">
                <a:solidFill>
                  <a:srgbClr val="FFFFFF"/>
                </a:solidFill>
                <a:latin typeface="Arial"/>
              </a:defRPr>
            </a:pPr>
            <a:r>
              <a:t>• Computer Vision Pothole Detection: Automatic depth and severity scoring from uploaded photos.</a:t>
            </a:r>
          </a:p>
          <a:p>
            <a:pPr>
              <a:spcBef>
                <a:spcPts val="800"/>
              </a:spcBef>
              <a:defRPr sz="1300">
                <a:solidFill>
                  <a:srgbClr val="FFFFFF"/>
                </a:solidFill>
                <a:latin typeface="Arial"/>
              </a:defRPr>
            </a:pPr>
            <a:r>
              <a:t>• WhatsApp Grievance Bot: Direct lodging via Twilio WhatsApp API for citizens without web access.</a:t>
            </a:r>
          </a:p>
          <a:p>
            <a:pPr>
              <a:spcBef>
                <a:spcPts val="800"/>
              </a:spcBef>
              <a:defRPr sz="1300">
                <a:solidFill>
                  <a:srgbClr val="FFFFFF"/>
                </a:solidFill>
                <a:latin typeface="Arial"/>
              </a:defRPr>
            </a:pPr>
            <a:r>
              <a:t>• Smart Streetlight Telemetry: Automated defect logging via IoT power sensors.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120640" cy="4572000"/>
          </a:xfrm>
          <a:prstGeom prst="roundRect">
            <a:avLst/>
          </a:prstGeom>
          <a:solidFill>
            <a:srgbClr val="081C26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82880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DD4BF"/>
                </a:solidFill>
                <a:latin typeface="Arial"/>
              </a:defRPr>
            </a:pPr>
            <a:r>
              <a:t>[ENTERPRISE] Phase 2: Government ERP Integration</a:t>
            </a:r>
          </a:p>
          <a:p>
            <a:pPr>
              <a:spcBef>
                <a:spcPts val="800"/>
              </a:spcBef>
              <a:defRPr sz="1300">
                <a:solidFill>
                  <a:srgbClr val="FFFFFF"/>
                </a:solidFill>
                <a:latin typeface="Arial"/>
              </a:defRPr>
            </a:pPr>
            <a:r>
              <a:t>• BBMP Sahaaya &amp; BESCOM SCADA API Synchronization.</a:t>
            </a:r>
          </a:p>
          <a:p>
            <a:pPr>
              <a:spcBef>
                <a:spcPts val="800"/>
              </a:spcBef>
              <a:defRPr sz="1300">
                <a:solidFill>
                  <a:srgbClr val="FFFFFF"/>
                </a:solidFill>
                <a:latin typeface="Arial"/>
              </a:defRPr>
            </a:pPr>
            <a:r>
              <a:t>• Automated Contractor SLA Penalties for delayed resolution beyond 72 hours.</a:t>
            </a:r>
          </a:p>
          <a:p>
            <a:pPr>
              <a:spcBef>
                <a:spcPts val="800"/>
              </a:spcBef>
              <a:defRPr sz="1300">
                <a:solidFill>
                  <a:srgbClr val="FFFFFF"/>
                </a:solidFill>
                <a:latin typeface="Arial"/>
              </a:defRPr>
            </a:pPr>
            <a:r>
              <a:t>• Civic Incentive Badges: Gamified citizen rewards for high-impact neighborhood vigilance.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080C"/>
          </a:solidFill>
          <a:ln>
            <a:solidFill>
              <a:srgbClr val="030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DD4BF"/>
                </a:solidFill>
                <a:latin typeface="Arial"/>
              </a:defRPr>
            </a:pPr>
            <a:r>
              <a:t>DEMO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Demonstration Blueprint for Viva &amp; College Demo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17320"/>
            <a:ext cx="10728655" cy="18288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10607040" cy="4572000"/>
          </a:xfrm>
          <a:prstGeom prst="roundRect">
            <a:avLst/>
          </a:prstGeom>
          <a:solidFill>
            <a:srgbClr val="081C26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102412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DD4BF"/>
                </a:solidFill>
                <a:latin typeface="Arial"/>
              </a:defRPr>
            </a:pPr>
            <a:r>
              <a:t>[LIVE WALKTHROUGH] 4-Minute Live Demo Script for Evaluators</a:t>
            </a:r>
          </a:p>
          <a:p>
            <a:pPr>
              <a:spcBef>
                <a:spcPts val="800"/>
              </a:spcBef>
              <a:defRPr sz="1300">
                <a:solidFill>
                  <a:srgbClr val="FFFFFF"/>
                </a:solidFill>
                <a:latin typeface="Arial"/>
              </a:defRPr>
            </a:pPr>
            <a:r>
              <a:t>• 1. Open http://localhost:5000: Showcase the 3D Dotted Earth Globe, interactively drag to rotate, point out Bengaluru Ward 112 pulsing beacon and live coordinate telemetry readout.</a:t>
            </a:r>
          </a:p>
          <a:p>
            <a:pPr>
              <a:spcBef>
                <a:spcPts val="800"/>
              </a:spcBef>
              <a:defRPr sz="1300">
                <a:solidFill>
                  <a:srgbClr val="FFFFFF"/>
                </a:solidFill>
                <a:latin typeface="Arial"/>
              </a:defRPr>
            </a:pPr>
            <a:r>
              <a:t>• 2. Explain Safety Banner: Highlight the executive emergency ribbon directing crime/fire to 112 while reserving the platform for civic infrastructure defects.</a:t>
            </a:r>
          </a:p>
          <a:p>
            <a:pPr>
              <a:spcBef>
                <a:spcPts val="800"/>
              </a:spcBef>
              <a:defRPr sz="1300">
                <a:solidFill>
                  <a:srgbClr val="FFFFFF"/>
                </a:solidFill>
                <a:latin typeface="Arial"/>
              </a:defRPr>
            </a:pPr>
            <a:r>
              <a:t>• 3. Lodge Grievance: Demonstrate GPS pinpointing on Leaflet map, select 'Roads &amp; Craters', upload evidence photo, and submit to SQLite vault.</a:t>
            </a:r>
          </a:p>
          <a:p>
            <a:pPr>
              <a:spcBef>
                <a:spcPts val="800"/>
              </a:spcBef>
              <a:defRPr sz="1300">
                <a:solidFill>
                  <a:srgbClr val="FFFFFF"/>
                </a:solidFill>
                <a:latin typeface="Arial"/>
              </a:defRPr>
            </a:pPr>
            <a:r>
              <a:t>• 4. Track Case: Copy the tracking ID into Case Tracker to show the milestone timeline and generate the official Printable Case Dossier Certificate.</a:t>
            </a:r>
          </a:p>
          <a:p>
            <a:pPr>
              <a:spcBef>
                <a:spcPts val="800"/>
              </a:spcBef>
              <a:defRPr sz="1300">
                <a:solidFill>
                  <a:srgbClr val="FFFFFF"/>
                </a:solidFill>
                <a:latin typeface="Arial"/>
              </a:defRPr>
            </a:pPr>
            <a:r>
              <a:t>• 5. Officer Console: Switch to Municipal Officer Console, filter by Ward 112 / Urgent priority, and update the status with official work order remarks.</a:t>
            </a:r>
          </a:p>
          <a:p>
            <a:pPr>
              <a:spcBef>
                <a:spcPts val="800"/>
              </a:spcBef>
              <a:defRPr sz="1300">
                <a:solidFill>
                  <a:srgbClr val="FFFFFF"/>
                </a:solidFill>
                <a:latin typeface="Arial"/>
              </a:defRPr>
            </a:pPr>
            <a:r>
              <a:t>• 6. Conclude: Point to the GitHub repository and permanent database WAL architecture.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080C"/>
          </a:solidFill>
          <a:ln>
            <a:solidFill>
              <a:srgbClr val="030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DD4BF"/>
                </a:solidFill>
                <a:latin typeface="Arial"/>
              </a:defRPr>
            </a:pPr>
            <a: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Conclusion &amp; Project Repositories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17320"/>
            <a:ext cx="10728655" cy="18288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081C26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DD4BF"/>
                </a:solidFill>
                <a:latin typeface="Arial"/>
              </a:defRPr>
            </a:pPr>
            <a:r>
              <a:t>[ACHIEVEMENTS] Key Project Achievements</a:t>
            </a:r>
          </a:p>
          <a:p>
            <a:pPr>
              <a:spcBef>
                <a:spcPts val="800"/>
              </a:spcBef>
              <a:defRPr sz="1300">
                <a:solidFill>
                  <a:srgbClr val="FFFFFF"/>
                </a:solidFill>
                <a:latin typeface="Arial"/>
              </a:defRPr>
            </a:pPr>
            <a:r>
              <a:t>• Complete full-stack civic governance portal delivered from scratch.</a:t>
            </a:r>
          </a:p>
          <a:p>
            <a:pPr>
              <a:spcBef>
                <a:spcPts val="800"/>
              </a:spcBef>
              <a:defRPr sz="1300">
                <a:solidFill>
                  <a:srgbClr val="FFFFFF"/>
                </a:solidFill>
                <a:latin typeface="Arial"/>
              </a:defRPr>
            </a:pPr>
            <a:r>
              <a:t>• Permanent, immutable SQLite WAL database ensuring zero data loss.</a:t>
            </a:r>
          </a:p>
          <a:p>
            <a:pPr>
              <a:spcBef>
                <a:spcPts val="800"/>
              </a:spcBef>
              <a:defRPr sz="1300">
                <a:solidFill>
                  <a:srgbClr val="FFFFFF"/>
                </a:solidFill>
                <a:latin typeface="Arial"/>
              </a:defRPr>
            </a:pPr>
            <a:r>
              <a:t>• Unique, non-generic glassmorphic UI with bespoke 3D Dotted Earth math engine.</a:t>
            </a:r>
          </a:p>
          <a:p>
            <a:pPr>
              <a:spcBef>
                <a:spcPts val="800"/>
              </a:spcBef>
              <a:defRPr sz="1300">
                <a:solidFill>
                  <a:srgbClr val="FFFFFF"/>
                </a:solidFill>
                <a:latin typeface="Arial"/>
              </a:defRPr>
            </a:pPr>
            <a:r>
              <a:t>• Full role-based security, GIS spatial integration, and printable legal certificates.</a:t>
            </a:r>
          </a:p>
          <a:p>
            <a:pPr>
              <a:spcBef>
                <a:spcPts val="800"/>
              </a:spcBef>
              <a:defRPr sz="1300">
                <a:solidFill>
                  <a:srgbClr val="FFFFFF"/>
                </a:solidFill>
                <a:latin typeface="Arial"/>
              </a:defRPr>
            </a:pPr>
            <a:r>
              <a:t>• Clean code structure adhering to industry best practices.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120640" cy="4572000"/>
          </a:xfrm>
          <a:prstGeom prst="roundRect">
            <a:avLst/>
          </a:prstGeom>
          <a:solidFill>
            <a:srgbClr val="081C26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82880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DD4BF"/>
                </a:solidFill>
                <a:latin typeface="Arial"/>
              </a:defRPr>
            </a:pPr>
            <a:r>
              <a:t>[RESOURCES] Project Access &amp; Credentials</a:t>
            </a:r>
          </a:p>
          <a:p>
            <a:pPr>
              <a:spcBef>
                <a:spcPts val="800"/>
              </a:spcBef>
              <a:defRPr sz="1300">
                <a:solidFill>
                  <a:srgbClr val="FFFFFF"/>
                </a:solidFill>
                <a:latin typeface="Arial"/>
              </a:defRPr>
            </a:pPr>
            <a:r>
              <a:t>• GitHub Repository: https://github.com/chinmaymr7090/CitizenShield</a:t>
            </a:r>
          </a:p>
          <a:p>
            <a:pPr>
              <a:spcBef>
                <a:spcPts val="800"/>
              </a:spcBef>
              <a:defRPr sz="1300">
                <a:solidFill>
                  <a:srgbClr val="FFFFFF"/>
                </a:solidFill>
                <a:latin typeface="Arial"/>
              </a:defRPr>
            </a:pPr>
            <a:r>
              <a:t>• Local Access URL: http://localhost:5000</a:t>
            </a:r>
          </a:p>
          <a:p>
            <a:pPr>
              <a:spcBef>
                <a:spcPts val="800"/>
              </a:spcBef>
              <a:defRPr sz="1300">
                <a:solidFill>
                  <a:srgbClr val="FFFFFF"/>
                </a:solidFill>
                <a:latin typeface="Arial"/>
              </a:defRPr>
            </a:pPr>
            <a:r>
              <a:t>• Default Officer Account: officer@citizenshield.gov / officer123</a:t>
            </a:r>
          </a:p>
          <a:p>
            <a:pPr>
              <a:spcBef>
                <a:spcPts val="800"/>
              </a:spcBef>
              <a:defRPr sz="1300">
                <a:solidFill>
                  <a:srgbClr val="FFFFFF"/>
                </a:solidFill>
                <a:latin typeface="Arial"/>
              </a:defRPr>
            </a:pPr>
            <a:r>
              <a:t>• Default Citizen Account: ananya.sharma@example.in / citizen123</a:t>
            </a:r>
          </a:p>
          <a:p>
            <a:pPr>
              <a:spcBef>
                <a:spcPts val="800"/>
              </a:spcBef>
              <a:defRPr sz="1300">
                <a:solidFill>
                  <a:srgbClr val="FFFFFF"/>
                </a:solidFill>
                <a:latin typeface="Arial"/>
              </a:defRPr>
            </a:pPr>
            <a:r>
              <a:t>• Lead Developer: Chinmay M R</a:t>
            </a:r>
          </a:p>
          <a:p>
            <a:pPr>
              <a:spcBef>
                <a:spcPts val="800"/>
              </a:spcBef>
              <a:defRPr sz="1300">
                <a:solidFill>
                  <a:srgbClr val="FFFFFF"/>
                </a:solidFill>
                <a:latin typeface="Arial"/>
              </a:defRPr>
            </a:pPr>
            <a:r>
              <a:t>• Course: Full-Stack Web Development &amp; Cloud Systems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