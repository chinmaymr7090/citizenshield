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3080C"/>
          </a:solidFill>
          <a:ln>
            <a:solidFill>
              <a:srgbClr val="030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62895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DD4BF"/>
                </a:solidFill>
              </a:defRPr>
            </a:pPr>
            <a:r>
              <a:t>CIVIC TECH • SMART MUNICIPAL GOVERNANCE • TUMAKURU CITY CORPORATION</a:t>
            </a:r>
          </a:p>
          <a:p>
            <a:pPr algn="ctr">
              <a:spcBef>
                <a:spcPts val="1000"/>
              </a:spcBef>
              <a:defRPr sz="5400" b="1">
                <a:solidFill>
                  <a:srgbClr val="FFFFFF"/>
                </a:solidFill>
              </a:defRPr>
            </a:pPr>
            <a:r>
              <a:t>CitizenShield</a:t>
            </a:r>
          </a:p>
          <a:p>
            <a:pPr algn="ctr">
              <a:spcBef>
                <a:spcPts val="1000"/>
              </a:spcBef>
              <a:defRPr sz="2000">
                <a:solidFill>
                  <a:srgbClr val="10B981"/>
                </a:solidFill>
              </a:defRPr>
            </a:pPr>
            <a:r>
              <a:t>Smart Municipal Grievance Redressal &amp; Spatial Radar Platform (35 Wards)</a:t>
            </a:r>
          </a:p>
          <a:p>
            <a:pPr algn="ctr">
              <a:spcBef>
                <a:spcPts val="2400"/>
              </a:spcBef>
              <a:defRPr sz="1300">
                <a:solidFill>
                  <a:srgbClr val="94A3B8"/>
                </a:solidFill>
              </a:defRPr>
            </a:pPr>
            <a:r>
              <a:t>Full-Stack Web Development Project | CSE Academic Evaluation</a:t>
            </a:r>
            <a:br/>
            <a:r>
              <a:t>GitHub: github.com/chinmaymr7090/CitizenShield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3080C"/>
          </a:solidFill>
          <a:ln>
            <a:solidFill>
              <a:srgbClr val="030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2DD4BF"/>
                </a:solidFill>
                <a:latin typeface="Arial"/>
              </a:defRPr>
            </a:pPr>
            <a:r>
              <a:t>URBAN CHALLENGES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5156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rial"/>
              </a:defRPr>
            </a:pPr>
            <a:r>
              <a:t>The Problem Statement: Urban Civic Deficit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417320"/>
            <a:ext cx="10728655" cy="18288"/>
          </a:xfrm>
          <a:prstGeom prst="rect">
            <a:avLst/>
          </a:prstGeom>
          <a:solidFill>
            <a:srgbClr val="0F766E"/>
          </a:solidFill>
          <a:ln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081C26"/>
          </a:solidFill>
          <a:ln w="1270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28800"/>
            <a:ext cx="47548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2DD4BF"/>
                </a:solidFill>
                <a:latin typeface="Arial"/>
              </a:defRPr>
            </a:pPr>
            <a:r>
              <a:t>[THE CRISIS] Fragmented Complaint Channels</a:t>
            </a:r>
          </a:p>
          <a:p>
            <a:pPr>
              <a:spcBef>
                <a:spcPts val="800"/>
              </a:spcBef>
              <a:defRPr sz="1300">
                <a:solidFill>
                  <a:srgbClr val="FFFFFF"/>
                </a:solidFill>
                <a:latin typeface="Arial"/>
              </a:defRPr>
            </a:pPr>
            <a:r>
              <a:t>• Citizens report craters, sewage bursts, and dark streetlights through scattered calls, social media, or verbal complaints.</a:t>
            </a:r>
          </a:p>
          <a:p>
            <a:pPr>
              <a:spcBef>
                <a:spcPts val="800"/>
              </a:spcBef>
              <a:defRPr sz="1300">
                <a:solidFill>
                  <a:srgbClr val="FFFFFF"/>
                </a:solidFill>
                <a:latin typeface="Arial"/>
              </a:defRPr>
            </a:pPr>
            <a:r>
              <a:t>• Zero tracking mechanism: 80%+ citizens never receive an update once a complaint is made.</a:t>
            </a:r>
          </a:p>
          <a:p>
            <a:pPr>
              <a:spcBef>
                <a:spcPts val="800"/>
              </a:spcBef>
              <a:defRPr sz="1300">
                <a:solidFill>
                  <a:srgbClr val="FFFFFF"/>
                </a:solidFill>
                <a:latin typeface="Arial"/>
              </a:defRPr>
            </a:pPr>
            <a:r>
              <a:t>• Duplicate lodging: Multiple citizens file complaints for the same road hazard.</a:t>
            </a:r>
          </a:p>
          <a:p>
            <a:pPr>
              <a:spcBef>
                <a:spcPts val="800"/>
              </a:spcBef>
              <a:defRPr sz="1300">
                <a:solidFill>
                  <a:srgbClr val="FFFFFF"/>
                </a:solidFill>
                <a:latin typeface="Arial"/>
              </a:defRPr>
            </a:pPr>
            <a:r>
              <a:t>• Lack of spatial context: Ambiguous landmark descriptions delay field repair teams by days.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5120640" cy="4572000"/>
          </a:xfrm>
          <a:prstGeom prst="roundRect">
            <a:avLst/>
          </a:prstGeom>
          <a:solidFill>
            <a:srgbClr val="081C26"/>
          </a:solidFill>
          <a:ln w="1270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828800"/>
            <a:ext cx="47548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2DD4BF"/>
                </a:solidFill>
                <a:latin typeface="Arial"/>
              </a:defRPr>
            </a:pPr>
            <a:r>
              <a:t>[THE BOTTLENECK] Administrative Inefficiencies</a:t>
            </a:r>
          </a:p>
          <a:p>
            <a:pPr>
              <a:spcBef>
                <a:spcPts val="800"/>
              </a:spcBef>
              <a:defRPr sz="1300">
                <a:solidFill>
                  <a:srgbClr val="FFFFFF"/>
                </a:solidFill>
                <a:latin typeface="Arial"/>
              </a:defRPr>
            </a:pPr>
            <a:r>
              <a:t>• Municipal officers lack a centralized triage system to prioritize urgent hazards.</a:t>
            </a:r>
          </a:p>
          <a:p>
            <a:pPr>
              <a:spcBef>
                <a:spcPts val="800"/>
              </a:spcBef>
              <a:defRPr sz="1300">
                <a:solidFill>
                  <a:srgbClr val="FFFFFF"/>
                </a:solidFill>
                <a:latin typeface="Arial"/>
              </a:defRPr>
            </a:pPr>
            <a:r>
              <a:t>• No immutable audit trail: Complaints can be closed or lost without verifiable evidence.</a:t>
            </a:r>
          </a:p>
          <a:p>
            <a:pPr>
              <a:spcBef>
                <a:spcPts val="800"/>
              </a:spcBef>
              <a:defRPr sz="1300">
                <a:solidFill>
                  <a:srgbClr val="FFFFFF"/>
                </a:solidFill>
                <a:latin typeface="Arial"/>
              </a:defRPr>
            </a:pPr>
            <a:r>
              <a:t>• Departmental silos: Delayed coordination between Roads, BESCOM (Power), and Water Supply boards.</a:t>
            </a:r>
          </a:p>
          <a:p>
            <a:pPr>
              <a:spcBef>
                <a:spcPts val="800"/>
              </a:spcBef>
              <a:defRPr sz="1300">
                <a:solidFill>
                  <a:srgbClr val="FFFFFF"/>
                </a:solidFill>
                <a:latin typeface="Arial"/>
              </a:defRPr>
            </a:pPr>
            <a:r>
              <a:t>• Inability to visualize hazard clusters on an interactive spatial GIS map across city wards.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3080C"/>
          </a:solidFill>
          <a:ln>
            <a:solidFill>
              <a:srgbClr val="030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2DD4BF"/>
                </a:solidFill>
                <a:latin typeface="Arial"/>
              </a:defRPr>
            </a:pPr>
            <a:r>
              <a:t>SYSTEM VISION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5156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rial"/>
              </a:defRPr>
            </a:pPr>
            <a:r>
              <a:t>The CitizenShield Solution: Closed-Loop Governance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417320"/>
            <a:ext cx="10728655" cy="18288"/>
          </a:xfrm>
          <a:prstGeom prst="rect">
            <a:avLst/>
          </a:prstGeom>
          <a:solidFill>
            <a:srgbClr val="0F766E"/>
          </a:solidFill>
          <a:ln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3383280" cy="4572000"/>
          </a:xfrm>
          <a:prstGeom prst="roundRect">
            <a:avLst/>
          </a:prstGeom>
          <a:solidFill>
            <a:srgbClr val="081C26"/>
          </a:solidFill>
          <a:ln w="1270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28800"/>
            <a:ext cx="30175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2DD4BF"/>
                </a:solidFill>
                <a:latin typeface="Arial"/>
              </a:defRPr>
            </a:pPr>
            <a:r>
              <a:t>[INTAKE] 1. Geo-Tagged Grievances</a:t>
            </a:r>
          </a:p>
          <a:p>
            <a:pPr>
              <a:spcBef>
                <a:spcPts val="800"/>
              </a:spcBef>
              <a:defRPr sz="1300">
                <a:solidFill>
                  <a:srgbClr val="FFFFFF"/>
                </a:solidFill>
                <a:latin typeface="Arial"/>
              </a:defRPr>
            </a:pPr>
            <a:r>
              <a:t>• One-click browser GPS acquisition with exact latitude and longitude.</a:t>
            </a:r>
          </a:p>
          <a:p>
            <a:pPr>
              <a:spcBef>
                <a:spcPts val="800"/>
              </a:spcBef>
              <a:defRPr sz="1300">
                <a:solidFill>
                  <a:srgbClr val="FFFFFF"/>
                </a:solidFill>
                <a:latin typeface="Arial"/>
              </a:defRPr>
            </a:pPr>
            <a:r>
              <a:t>• Full coverage across all 35 Tumakuru Corporation wards.</a:t>
            </a:r>
          </a:p>
          <a:p>
            <a:pPr>
              <a:spcBef>
                <a:spcPts val="800"/>
              </a:spcBef>
              <a:defRPr sz="1300">
                <a:solidFill>
                  <a:srgbClr val="FFFFFF"/>
                </a:solidFill>
                <a:latin typeface="Arial"/>
              </a:defRPr>
            </a:pPr>
            <a:r>
              <a:t>• High-resolution evidence photo upload directly to secure vault.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645920"/>
            <a:ext cx="3383280" cy="4572000"/>
          </a:xfrm>
          <a:prstGeom prst="roundRect">
            <a:avLst/>
          </a:prstGeom>
          <a:solidFill>
            <a:srgbClr val="081C26"/>
          </a:solidFill>
          <a:ln w="1270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1828800"/>
            <a:ext cx="30175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2DD4BF"/>
                </a:solidFill>
                <a:latin typeface="Arial"/>
              </a:defRPr>
            </a:pPr>
            <a:r>
              <a:t>[PERSISTENCE] 2. Permanent SQLite Vault</a:t>
            </a:r>
          </a:p>
          <a:p>
            <a:pPr>
              <a:spcBef>
                <a:spcPts val="800"/>
              </a:spcBef>
              <a:defRPr sz="1300">
                <a:solidFill>
                  <a:srgbClr val="FFFFFF"/>
                </a:solidFill>
                <a:latin typeface="Arial"/>
              </a:defRPr>
            </a:pPr>
            <a:r>
              <a:t>• 100% immutable data policy: records are never lost or deleted on restart.</a:t>
            </a:r>
          </a:p>
          <a:p>
            <a:pPr>
              <a:spcBef>
                <a:spcPts val="800"/>
              </a:spcBef>
              <a:defRPr sz="1300">
                <a:solidFill>
                  <a:srgbClr val="FFFFFF"/>
                </a:solidFill>
                <a:latin typeface="Arial"/>
              </a:defRPr>
            </a:pPr>
            <a:r>
              <a:t>• Write-Ahead Logging (WAL) ensures high concurrency and reliability.</a:t>
            </a:r>
          </a:p>
          <a:p>
            <a:pPr>
              <a:spcBef>
                <a:spcPts val="800"/>
              </a:spcBef>
              <a:defRPr sz="1300">
                <a:solidFill>
                  <a:srgbClr val="FFFFFF"/>
                </a:solidFill>
                <a:latin typeface="Arial"/>
              </a:defRPr>
            </a:pPr>
            <a:r>
              <a:t>• Every transition tracked in legal status history logs.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645920"/>
            <a:ext cx="3383280" cy="4572000"/>
          </a:xfrm>
          <a:prstGeom prst="roundRect">
            <a:avLst/>
          </a:prstGeom>
          <a:solidFill>
            <a:srgbClr val="081C26"/>
          </a:solidFill>
          <a:ln w="1270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0" y="1828800"/>
            <a:ext cx="30175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2DD4BF"/>
                </a:solidFill>
                <a:latin typeface="Arial"/>
              </a:defRPr>
            </a:pPr>
            <a:r>
              <a:t>[RADAR] 3. Interactive Spatial GIS</a:t>
            </a:r>
          </a:p>
          <a:p>
            <a:pPr>
              <a:spcBef>
                <a:spcPts val="800"/>
              </a:spcBef>
              <a:defRPr sz="1300">
                <a:solidFill>
                  <a:srgbClr val="FFFFFF"/>
                </a:solidFill>
                <a:latin typeface="Arial"/>
              </a:defRPr>
            </a:pPr>
            <a:r>
              <a:t>• 3D Dotted Earth orbital radar with live telemetry coordinates.</a:t>
            </a:r>
          </a:p>
          <a:p>
            <a:pPr>
              <a:spcBef>
                <a:spcPts val="800"/>
              </a:spcBef>
              <a:defRPr sz="1300">
                <a:solidFill>
                  <a:srgbClr val="FFFFFF"/>
                </a:solidFill>
                <a:latin typeface="Arial"/>
              </a:defRPr>
            </a:pPr>
            <a:r>
              <a:t>• Interactive Leaflet GIS map with color-coded priority hazard markers.</a:t>
            </a:r>
          </a:p>
          <a:p>
            <a:pPr>
              <a:spcBef>
                <a:spcPts val="800"/>
              </a:spcBef>
              <a:defRPr sz="1300">
                <a:solidFill>
                  <a:srgbClr val="FFFFFF"/>
                </a:solidFill>
                <a:latin typeface="Arial"/>
              </a:defRPr>
            </a:pPr>
            <a:r>
              <a:t>• Public Case Tracker and printable legal complaint certificates.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3080C"/>
          </a:solidFill>
          <a:ln>
            <a:solidFill>
              <a:srgbClr val="030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2DD4BF"/>
                </a:solidFill>
                <a:latin typeface="Arial"/>
              </a:defRPr>
            </a:pPr>
            <a:r>
              <a:t>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5156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rial"/>
              </a:defRPr>
            </a:pPr>
            <a:r>
              <a:t>Multi-Tier Enterprise Technology Stack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417320"/>
            <a:ext cx="10728655" cy="18288"/>
          </a:xfrm>
          <a:prstGeom prst="rect">
            <a:avLst/>
          </a:prstGeom>
          <a:solidFill>
            <a:srgbClr val="0F766E"/>
          </a:solidFill>
          <a:ln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3383280" cy="4572000"/>
          </a:xfrm>
          <a:prstGeom prst="roundRect">
            <a:avLst/>
          </a:prstGeom>
          <a:solidFill>
            <a:srgbClr val="081C26"/>
          </a:solidFill>
          <a:ln w="1270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28800"/>
            <a:ext cx="30175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2DD4BF"/>
                </a:solidFill>
                <a:latin typeface="Arial"/>
              </a:defRPr>
            </a:pPr>
            <a:r>
              <a:t>[CLIENT] Frontend Layer</a:t>
            </a:r>
          </a:p>
          <a:p>
            <a:pPr>
              <a:spcBef>
                <a:spcPts val="800"/>
              </a:spcBef>
              <a:defRPr sz="1300">
                <a:solidFill>
                  <a:srgbClr val="FFFFFF"/>
                </a:solidFill>
                <a:latin typeface="Arial"/>
              </a:defRPr>
            </a:pPr>
            <a:r>
              <a:t>• Pure Vanilla ES6+ Modules (Zero heavy build or framework overhead).</a:t>
            </a:r>
          </a:p>
          <a:p>
            <a:pPr>
              <a:spcBef>
                <a:spcPts val="800"/>
              </a:spcBef>
              <a:defRPr sz="1300">
                <a:solidFill>
                  <a:srgbClr val="FFFFFF"/>
                </a:solidFill>
                <a:latin typeface="Arial"/>
              </a:defRPr>
            </a:pPr>
            <a:r>
              <a:t>• Bespoke Glassmorphism UI (Lagoon Teal &amp; Midnight Void aesthetic).</a:t>
            </a:r>
          </a:p>
          <a:p>
            <a:pPr>
              <a:spcBef>
                <a:spcPts val="800"/>
              </a:spcBef>
              <a:defRPr sz="1300">
                <a:solidFill>
                  <a:srgbClr val="FFFFFF"/>
                </a:solidFill>
                <a:latin typeface="Arial"/>
              </a:defRPr>
            </a:pPr>
            <a:r>
              <a:t>• Leaflet.js for high-performance municipal GIS spatial explorer.</a:t>
            </a:r>
          </a:p>
          <a:p>
            <a:pPr>
              <a:spcBef>
                <a:spcPts val="800"/>
              </a:spcBef>
              <a:defRPr sz="1300">
                <a:solidFill>
                  <a:srgbClr val="FFFFFF"/>
                </a:solidFill>
                <a:latin typeface="Arial"/>
              </a:defRPr>
            </a:pPr>
            <a:r>
              <a:t>• HTML5 Canvas 3D Dotted Earth engine with Fibonacci point projection.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645920"/>
            <a:ext cx="3383280" cy="4572000"/>
          </a:xfrm>
          <a:prstGeom prst="roundRect">
            <a:avLst/>
          </a:prstGeom>
          <a:solidFill>
            <a:srgbClr val="081C26"/>
          </a:solidFill>
          <a:ln w="1270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1828800"/>
            <a:ext cx="30175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2DD4BF"/>
                </a:solidFill>
                <a:latin typeface="Arial"/>
              </a:defRPr>
            </a:pPr>
            <a:r>
              <a:t>[SERVER] Application Backend</a:t>
            </a:r>
          </a:p>
          <a:p>
            <a:pPr>
              <a:spcBef>
                <a:spcPts val="800"/>
              </a:spcBef>
              <a:defRPr sz="1300">
                <a:solidFill>
                  <a:srgbClr val="FFFFFF"/>
                </a:solidFill>
                <a:latin typeface="Arial"/>
              </a:defRPr>
            </a:pPr>
            <a:r>
              <a:t>• Python 3.13 + Flask Microframework.</a:t>
            </a:r>
          </a:p>
          <a:p>
            <a:pPr>
              <a:spcBef>
                <a:spcPts val="800"/>
              </a:spcBef>
              <a:defRPr sz="1300">
                <a:solidFill>
                  <a:srgbClr val="FFFFFF"/>
                </a:solidFill>
                <a:latin typeface="Arial"/>
              </a:defRPr>
            </a:pPr>
            <a:r>
              <a:t>• RESTful API design with clean JSON contract schemas.</a:t>
            </a:r>
          </a:p>
          <a:p>
            <a:pPr>
              <a:spcBef>
                <a:spcPts val="800"/>
              </a:spcBef>
              <a:defRPr sz="1300">
                <a:solidFill>
                  <a:srgbClr val="FFFFFF"/>
                </a:solidFill>
                <a:latin typeface="Arial"/>
              </a:defRPr>
            </a:pPr>
            <a:r>
              <a:t>• PBKDF2-HMAC cryptographic password hashing with unique salt.</a:t>
            </a:r>
          </a:p>
          <a:p>
            <a:pPr>
              <a:spcBef>
                <a:spcPts val="800"/>
              </a:spcBef>
              <a:defRPr sz="1300">
                <a:solidFill>
                  <a:srgbClr val="FFFFFF"/>
                </a:solidFill>
                <a:latin typeface="Arial"/>
              </a:defRPr>
            </a:pPr>
            <a:r>
              <a:t>• Cryptographic session tokens and RBAC authorization middleware.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645920"/>
            <a:ext cx="3383280" cy="4572000"/>
          </a:xfrm>
          <a:prstGeom prst="roundRect">
            <a:avLst/>
          </a:prstGeom>
          <a:solidFill>
            <a:srgbClr val="081C26"/>
          </a:solidFill>
          <a:ln w="1270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0" y="1828800"/>
            <a:ext cx="30175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2DD4BF"/>
                </a:solidFill>
                <a:latin typeface="Arial"/>
              </a:defRPr>
            </a:pPr>
            <a:r>
              <a:t>[DATABASE] Data &amp; Storage Vault</a:t>
            </a:r>
          </a:p>
          <a:p>
            <a:pPr>
              <a:spcBef>
                <a:spcPts val="800"/>
              </a:spcBef>
              <a:defRPr sz="1300">
                <a:solidFill>
                  <a:srgbClr val="FFFFFF"/>
                </a:solidFill>
                <a:latin typeface="Arial"/>
              </a:defRPr>
            </a:pPr>
            <a:r>
              <a:t>• SQLite Embedded Engine with strict foreign keys enabled.</a:t>
            </a:r>
          </a:p>
          <a:p>
            <a:pPr>
              <a:spcBef>
                <a:spcPts val="800"/>
              </a:spcBef>
              <a:defRPr sz="1300">
                <a:solidFill>
                  <a:srgbClr val="FFFFFF"/>
                </a:solidFill>
                <a:latin typeface="Arial"/>
              </a:defRPr>
            </a:pPr>
            <a:r>
              <a:t>• WAL (Write-Ahead Logging) mode for concurrent reads &amp; writes.</a:t>
            </a:r>
          </a:p>
          <a:p>
            <a:pPr>
              <a:spcBef>
                <a:spcPts val="800"/>
              </a:spcBef>
              <a:defRPr sz="1300">
                <a:solidFill>
                  <a:srgbClr val="FFFFFF"/>
                </a:solidFill>
                <a:latin typeface="Arial"/>
              </a:defRPr>
            </a:pPr>
            <a:r>
              <a:t>• Local secure photo vault with cryptographic filename hashing.</a:t>
            </a:r>
          </a:p>
          <a:p>
            <a:pPr>
              <a:spcBef>
                <a:spcPts val="800"/>
              </a:spcBef>
              <a:defRPr sz="1300">
                <a:solidFill>
                  <a:srgbClr val="FFFFFF"/>
                </a:solidFill>
                <a:latin typeface="Arial"/>
              </a:defRPr>
            </a:pPr>
            <a:r>
              <a:t>• Permanent storage file: data/citizenshield.db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3080C"/>
          </a:solidFill>
          <a:ln>
            <a:solidFill>
              <a:srgbClr val="030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2DD4BF"/>
                </a:solidFill>
                <a:latin typeface="Arial"/>
              </a:defRPr>
            </a:pPr>
            <a:r>
              <a:t>DATABASE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5156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rial"/>
              </a:defRPr>
            </a:pPr>
            <a:r>
              <a:t>Permanent SQLite Vault Schema &amp; Data Integrity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417320"/>
            <a:ext cx="10728655" cy="18288"/>
          </a:xfrm>
          <a:prstGeom prst="rect">
            <a:avLst/>
          </a:prstGeom>
          <a:solidFill>
            <a:srgbClr val="0F766E"/>
          </a:solidFill>
          <a:ln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081C26"/>
          </a:solidFill>
          <a:ln w="1270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28800"/>
            <a:ext cx="47548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2DD4BF"/>
                </a:solidFill>
                <a:latin typeface="Arial"/>
              </a:defRPr>
            </a:pPr>
            <a:r>
              <a:t>[TABLES] Core Relational Entities</a:t>
            </a:r>
          </a:p>
          <a:p>
            <a:pPr>
              <a:spcBef>
                <a:spcPts val="800"/>
              </a:spcBef>
              <a:defRPr sz="1300">
                <a:solidFill>
                  <a:srgbClr val="FFFFFF"/>
                </a:solidFill>
                <a:latin typeface="Arial"/>
              </a:defRPr>
            </a:pPr>
            <a:r>
              <a:t>• USERS: id, uuid, name, email, password_hash, password_salt, role (citizen/admin), department, phone, created_at.</a:t>
            </a:r>
          </a:p>
          <a:p>
            <a:pPr>
              <a:spcBef>
                <a:spcPts val="800"/>
              </a:spcBef>
              <a:defRPr sz="1300">
                <a:solidFill>
                  <a:srgbClr val="FFFFFF"/>
                </a:solidFill>
                <a:latin typeface="Arial"/>
              </a:defRPr>
            </a:pPr>
            <a:r>
              <a:t>• REPORTS: id, report_id (UUID), user_id, citizen_name, title, category, department, priority, description, location, ward, latitude, longitude, image_filename, status, admin_remarks, sla_hours, created_at, updated_at.</a:t>
            </a:r>
          </a:p>
          <a:p>
            <a:pPr>
              <a:spcBef>
                <a:spcPts val="800"/>
              </a:spcBef>
              <a:defRPr sz="1300">
                <a:solidFill>
                  <a:srgbClr val="FFFFFF"/>
                </a:solidFill>
                <a:latin typeface="Arial"/>
              </a:defRPr>
            </a:pPr>
            <a:r>
              <a:t>• STATUS_HISTORY: id, report_id, status, remarks, officer_name, officer_role, created_at.</a:t>
            </a:r>
          </a:p>
          <a:p>
            <a:pPr>
              <a:spcBef>
                <a:spcPts val="800"/>
              </a:spcBef>
              <a:defRPr sz="1300">
                <a:solidFill>
                  <a:srgbClr val="FFFFFF"/>
                </a:solidFill>
                <a:latin typeface="Arial"/>
              </a:defRPr>
            </a:pPr>
            <a:r>
              <a:t>• AUTH_TOKENS &amp; AUDIT_LOGS: Session tokens and audit logging.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5120640" cy="4572000"/>
          </a:xfrm>
          <a:prstGeom prst="roundRect">
            <a:avLst/>
          </a:prstGeom>
          <a:solidFill>
            <a:srgbClr val="081C26"/>
          </a:solidFill>
          <a:ln w="1270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828800"/>
            <a:ext cx="47548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2DD4BF"/>
                </a:solidFill>
                <a:latin typeface="Arial"/>
              </a:defRPr>
            </a:pPr>
            <a:r>
              <a:t>[GOVERNANCE] Data Immutability Guarantees</a:t>
            </a:r>
          </a:p>
          <a:p>
            <a:pPr>
              <a:spcBef>
                <a:spcPts val="800"/>
              </a:spcBef>
              <a:defRPr sz="1300">
                <a:solidFill>
                  <a:srgbClr val="FFFFFF"/>
                </a:solidFill>
                <a:latin typeface="Arial"/>
              </a:defRPr>
            </a:pPr>
            <a:r>
              <a:t>• Zero Data Loss: Reports and status transitions are preserved indefinitely for administrative accountability.</a:t>
            </a:r>
          </a:p>
          <a:p>
            <a:pPr>
              <a:spcBef>
                <a:spcPts val="800"/>
              </a:spcBef>
              <a:defRPr sz="1300">
                <a:solidFill>
                  <a:srgbClr val="FFFFFF"/>
                </a:solidFill>
                <a:latin typeface="Arial"/>
              </a:defRPr>
            </a:pPr>
            <a:r>
              <a:t>• Strict Foreign Keys: Enforced relational integrity between users, reports, and history.</a:t>
            </a:r>
          </a:p>
          <a:p>
            <a:pPr>
              <a:spcBef>
                <a:spcPts val="800"/>
              </a:spcBef>
              <a:defRPr sz="1300">
                <a:solidFill>
                  <a:srgbClr val="FFFFFF"/>
                </a:solidFill>
                <a:latin typeface="Arial"/>
              </a:defRPr>
            </a:pPr>
            <a:r>
              <a:t>• Permanent Tumakuru Ward Support: All 35 corporation wards recognized in schema.</a:t>
            </a:r>
          </a:p>
          <a:p>
            <a:pPr>
              <a:spcBef>
                <a:spcPts val="800"/>
              </a:spcBef>
              <a:defRPr sz="1300">
                <a:solidFill>
                  <a:srgbClr val="FFFFFF"/>
                </a:solidFill>
                <a:latin typeface="Arial"/>
              </a:defRPr>
            </a:pPr>
            <a:r>
              <a:t>• Live file verification: c:\Citizien Shield\data\citizenshield.db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3080C"/>
          </a:solidFill>
          <a:ln>
            <a:solidFill>
              <a:srgbClr val="030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2DD4BF"/>
                </a:solidFill>
                <a:latin typeface="Arial"/>
              </a:defRPr>
            </a:pPr>
            <a:r>
              <a:t>TUMAKURU MUNICIPAL GRID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5156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rial"/>
              </a:defRPr>
            </a:pPr>
            <a:r>
              <a:t>Complete Tumakuru City Corporation Coverage (35 Wards)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417320"/>
            <a:ext cx="10728655" cy="18288"/>
          </a:xfrm>
          <a:prstGeom prst="rect">
            <a:avLst/>
          </a:prstGeom>
          <a:solidFill>
            <a:srgbClr val="0F766E"/>
          </a:solidFill>
          <a:ln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3383280" cy="4572000"/>
          </a:xfrm>
          <a:prstGeom prst="roundRect">
            <a:avLst/>
          </a:prstGeom>
          <a:solidFill>
            <a:srgbClr val="081C26"/>
          </a:solidFill>
          <a:ln w="1270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28800"/>
            <a:ext cx="30175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2DD4BF"/>
                </a:solidFill>
                <a:latin typeface="Arial"/>
              </a:defRPr>
            </a:pPr>
            <a:r>
              <a:t>[CENTRAL / NORTH] North &amp; Central Divisions</a:t>
            </a:r>
          </a:p>
          <a:p>
            <a:pPr>
              <a:spcBef>
                <a:spcPts val="800"/>
              </a:spcBef>
              <a:defRPr sz="1300">
                <a:solidFill>
                  <a:srgbClr val="FFFFFF"/>
                </a:solidFill>
                <a:latin typeface="Arial"/>
              </a:defRPr>
            </a:pPr>
            <a:r>
              <a:t>• Ward 1: Antharasanahalli / Sira Road</a:t>
            </a:r>
          </a:p>
          <a:p>
            <a:pPr>
              <a:spcBef>
                <a:spcPts val="800"/>
              </a:spcBef>
              <a:defRPr sz="1300">
                <a:solidFill>
                  <a:srgbClr val="FFFFFF"/>
                </a:solidFill>
                <a:latin typeface="Arial"/>
              </a:defRPr>
            </a:pPr>
            <a:r>
              <a:t>• Ward 2: Maralenahalli / Sira Gate</a:t>
            </a:r>
          </a:p>
          <a:p>
            <a:pPr>
              <a:spcBef>
                <a:spcPts val="800"/>
              </a:spcBef>
              <a:defRPr sz="1300">
                <a:solidFill>
                  <a:srgbClr val="FFFFFF"/>
                </a:solidFill>
                <a:latin typeface="Arial"/>
              </a:defRPr>
            </a:pPr>
            <a:r>
              <a:t>• Ward 3: Belagumba / Puttashamayyanapalya</a:t>
            </a:r>
          </a:p>
          <a:p>
            <a:pPr>
              <a:spcBef>
                <a:spcPts val="800"/>
              </a:spcBef>
              <a:defRPr sz="1300">
                <a:solidFill>
                  <a:srgbClr val="FFFFFF"/>
                </a:solidFill>
                <a:latin typeface="Arial"/>
              </a:defRPr>
            </a:pPr>
            <a:r>
              <a:t>• Ward 4: Dibbur / Temple Road</a:t>
            </a:r>
          </a:p>
          <a:p>
            <a:pPr>
              <a:spcBef>
                <a:spcPts val="800"/>
              </a:spcBef>
              <a:defRPr sz="1300">
                <a:solidFill>
                  <a:srgbClr val="FFFFFF"/>
                </a:solidFill>
                <a:latin typeface="Arial"/>
              </a:defRPr>
            </a:pPr>
            <a:r>
              <a:t>• Ward 5: Bheemasandra / Kuvempu Nagar</a:t>
            </a:r>
          </a:p>
          <a:p>
            <a:pPr>
              <a:spcBef>
                <a:spcPts val="800"/>
              </a:spcBef>
              <a:defRPr sz="1300">
                <a:solidFill>
                  <a:srgbClr val="FFFFFF"/>
                </a:solidFill>
                <a:latin typeface="Arial"/>
              </a:defRPr>
            </a:pPr>
            <a:r>
              <a:t>• Ward 11: Mandipet / Town Hall Core</a:t>
            </a:r>
          </a:p>
          <a:p>
            <a:pPr>
              <a:spcBef>
                <a:spcPts val="800"/>
              </a:spcBef>
              <a:defRPr sz="1300">
                <a:solidFill>
                  <a:srgbClr val="FFFFFF"/>
                </a:solidFill>
                <a:latin typeface="Arial"/>
              </a:defRPr>
            </a:pPr>
            <a:r>
              <a:t>• Ward 12: Chickpet / Old Market Road</a:t>
            </a:r>
          </a:p>
          <a:p>
            <a:pPr>
              <a:spcBef>
                <a:spcPts val="800"/>
              </a:spcBef>
              <a:defRPr sz="1300">
                <a:solidFill>
                  <a:srgbClr val="FFFFFF"/>
                </a:solidFill>
                <a:latin typeface="Arial"/>
              </a:defRPr>
            </a:pPr>
            <a:r>
              <a:t>• Ward 13: Ashok Nagar / MG Road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645920"/>
            <a:ext cx="3383280" cy="4572000"/>
          </a:xfrm>
          <a:prstGeom prst="roundRect">
            <a:avLst/>
          </a:prstGeom>
          <a:solidFill>
            <a:srgbClr val="081C26"/>
          </a:solidFill>
          <a:ln w="1270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1828800"/>
            <a:ext cx="30175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2DD4BF"/>
                </a:solidFill>
                <a:latin typeface="Arial"/>
              </a:defRPr>
            </a:pPr>
            <a:r>
              <a:t>[URBAN CORE] Educational &amp; Residential Hubs</a:t>
            </a:r>
          </a:p>
          <a:p>
            <a:pPr>
              <a:spcBef>
                <a:spcPts val="800"/>
              </a:spcBef>
              <a:defRPr sz="1300">
                <a:solidFill>
                  <a:srgbClr val="FFFFFF"/>
                </a:solidFill>
                <a:latin typeface="Arial"/>
              </a:defRPr>
            </a:pPr>
            <a:r>
              <a:t>• Ward 10: Kyatsandra / Siddaganga Math</a:t>
            </a:r>
          </a:p>
          <a:p>
            <a:pPr>
              <a:spcBef>
                <a:spcPts val="800"/>
              </a:spcBef>
              <a:defRPr sz="1300">
                <a:solidFill>
                  <a:srgbClr val="FFFFFF"/>
                </a:solidFill>
                <a:latin typeface="Arial"/>
              </a:defRPr>
            </a:pPr>
            <a:r>
              <a:t>• Ward 16 &amp; 17: Jayanagar East / West</a:t>
            </a:r>
          </a:p>
          <a:p>
            <a:pPr>
              <a:spcBef>
                <a:spcPts val="800"/>
              </a:spcBef>
              <a:defRPr sz="1300">
                <a:solidFill>
                  <a:srgbClr val="FFFFFF"/>
                </a:solidFill>
                <a:latin typeface="Arial"/>
              </a:defRPr>
            </a:pPr>
            <a:r>
              <a:t>• Ward 18: SIT Campus / SIT Extension</a:t>
            </a:r>
          </a:p>
          <a:p>
            <a:pPr>
              <a:spcBef>
                <a:spcPts val="800"/>
              </a:spcBef>
              <a:defRPr sz="1300">
                <a:solidFill>
                  <a:srgbClr val="FFFFFF"/>
                </a:solidFill>
                <a:latin typeface="Arial"/>
              </a:defRPr>
            </a:pPr>
            <a:r>
              <a:t>• Ward 19: Vidyanagar / Siddaganga Extn</a:t>
            </a:r>
          </a:p>
          <a:p>
            <a:pPr>
              <a:spcBef>
                <a:spcPts val="800"/>
              </a:spcBef>
              <a:defRPr sz="1300">
                <a:solidFill>
                  <a:srgbClr val="FFFFFF"/>
                </a:solidFill>
                <a:latin typeface="Arial"/>
              </a:defRPr>
            </a:pPr>
            <a:r>
              <a:t>• Ward 20 &amp; 21: SS Puram (Main &amp; South)</a:t>
            </a:r>
          </a:p>
          <a:p>
            <a:pPr>
              <a:spcBef>
                <a:spcPts val="800"/>
              </a:spcBef>
              <a:defRPr sz="1300">
                <a:solidFill>
                  <a:srgbClr val="FFFFFF"/>
                </a:solidFill>
                <a:latin typeface="Arial"/>
              </a:defRPr>
            </a:pPr>
            <a:r>
              <a:t>• Ward 22: Upparhalli / Maruthi Nagar</a:t>
            </a:r>
          </a:p>
          <a:p>
            <a:pPr>
              <a:spcBef>
                <a:spcPts val="800"/>
              </a:spcBef>
              <a:defRPr sz="1300">
                <a:solidFill>
                  <a:srgbClr val="FFFFFF"/>
                </a:solidFill>
                <a:latin typeface="Arial"/>
              </a:defRPr>
            </a:pPr>
            <a:r>
              <a:t>• Ward 23: Gubbi Gate / Railway Corridor</a:t>
            </a:r>
          </a:p>
          <a:p>
            <a:pPr>
              <a:spcBef>
                <a:spcPts val="800"/>
              </a:spcBef>
              <a:defRPr sz="1300">
                <a:solidFill>
                  <a:srgbClr val="FFFFFF"/>
                </a:solidFill>
                <a:latin typeface="Arial"/>
              </a:defRPr>
            </a:pPr>
            <a:r>
              <a:t>• Ward 26: Amanikere Lake Promenade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645920"/>
            <a:ext cx="3383280" cy="4572000"/>
          </a:xfrm>
          <a:prstGeom prst="roundRect">
            <a:avLst/>
          </a:prstGeom>
          <a:solidFill>
            <a:srgbClr val="081C26"/>
          </a:solidFill>
          <a:ln w="1270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0" y="1828800"/>
            <a:ext cx="30175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2DD4BF"/>
                </a:solidFill>
                <a:latin typeface="Arial"/>
              </a:defRPr>
            </a:pPr>
            <a:r>
              <a:t>[EXPANSION ZONES] Southern &amp; Industrial Rings</a:t>
            </a:r>
          </a:p>
          <a:p>
            <a:pPr>
              <a:spcBef>
                <a:spcPts val="800"/>
              </a:spcBef>
              <a:defRPr sz="1300">
                <a:solidFill>
                  <a:srgbClr val="FFFFFF"/>
                </a:solidFill>
                <a:latin typeface="Arial"/>
              </a:defRPr>
            </a:pPr>
            <a:r>
              <a:t>• Ward 7: Melekote / Sadashivanagar</a:t>
            </a:r>
          </a:p>
          <a:p>
            <a:pPr>
              <a:spcBef>
                <a:spcPts val="800"/>
              </a:spcBef>
              <a:defRPr sz="1300">
                <a:solidFill>
                  <a:srgbClr val="FFFFFF"/>
                </a:solidFill>
                <a:latin typeface="Arial"/>
              </a:defRPr>
            </a:pPr>
            <a:r>
              <a:t>• Ward 8 &amp; 9: Batawadi North &amp; South</a:t>
            </a:r>
          </a:p>
          <a:p>
            <a:pPr>
              <a:spcBef>
                <a:spcPts val="800"/>
              </a:spcBef>
              <a:defRPr sz="1300">
                <a:solidFill>
                  <a:srgbClr val="FFFFFF"/>
                </a:solidFill>
                <a:latin typeface="Arial"/>
              </a:defRPr>
            </a:pPr>
            <a:r>
              <a:t>• Ward 14: Gandhi Nagar / CSI Layout</a:t>
            </a:r>
          </a:p>
          <a:p>
            <a:pPr>
              <a:spcBef>
                <a:spcPts val="800"/>
              </a:spcBef>
              <a:defRPr sz="1300">
                <a:solidFill>
                  <a:srgbClr val="FFFFFF"/>
                </a:solidFill>
                <a:latin typeface="Arial"/>
              </a:defRPr>
            </a:pPr>
            <a:r>
              <a:t>• Ward 29: Gokula Extension</a:t>
            </a:r>
          </a:p>
          <a:p>
            <a:pPr>
              <a:spcBef>
                <a:spcPts val="800"/>
              </a:spcBef>
              <a:defRPr sz="1300">
                <a:solidFill>
                  <a:srgbClr val="FFFFFF"/>
                </a:solidFill>
                <a:latin typeface="Arial"/>
              </a:defRPr>
            </a:pPr>
            <a:r>
              <a:t>• Ward 30: Sathyamangala Industrial Bypass</a:t>
            </a:r>
          </a:p>
          <a:p>
            <a:pPr>
              <a:spcBef>
                <a:spcPts val="800"/>
              </a:spcBef>
              <a:defRPr sz="1300">
                <a:solidFill>
                  <a:srgbClr val="FFFFFF"/>
                </a:solidFill>
                <a:latin typeface="Arial"/>
              </a:defRPr>
            </a:pPr>
            <a:r>
              <a:t>• Ward 31: Shettihalli Ring Road</a:t>
            </a:r>
          </a:p>
          <a:p>
            <a:pPr>
              <a:spcBef>
                <a:spcPts val="800"/>
              </a:spcBef>
              <a:defRPr sz="1300">
                <a:solidFill>
                  <a:srgbClr val="FFFFFF"/>
                </a:solidFill>
                <a:latin typeface="Arial"/>
              </a:defRPr>
            </a:pPr>
            <a:r>
              <a:t>• Ward 32: Devarayapatna / Kunigal Road</a:t>
            </a:r>
          </a:p>
          <a:p>
            <a:pPr>
              <a:spcBef>
                <a:spcPts val="800"/>
              </a:spcBef>
              <a:defRPr sz="1300">
                <a:solidFill>
                  <a:srgbClr val="FFFFFF"/>
                </a:solidFill>
                <a:latin typeface="Arial"/>
              </a:defRPr>
            </a:pPr>
            <a:r>
              <a:t>• Ward 35: Obalapura Ring Road Junction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3080C"/>
          </a:solidFill>
          <a:ln>
            <a:solidFill>
              <a:srgbClr val="030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2DD4BF"/>
                </a:solidFill>
                <a:latin typeface="Arial"/>
              </a:defRPr>
            </a:pPr>
            <a:r>
              <a:t>FRONTEND INNOVATION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5156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rial"/>
              </a:defRPr>
            </a:pPr>
            <a:r>
              <a:t>Bespoke UI Design &amp; 3D Orbital Earth Engine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417320"/>
            <a:ext cx="10728655" cy="18288"/>
          </a:xfrm>
          <a:prstGeom prst="rect">
            <a:avLst/>
          </a:prstGeom>
          <a:solidFill>
            <a:srgbClr val="0F766E"/>
          </a:solidFill>
          <a:ln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081C26"/>
          </a:solidFill>
          <a:ln w="1270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28800"/>
            <a:ext cx="47548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2DD4BF"/>
                </a:solidFill>
                <a:latin typeface="Arial"/>
              </a:defRPr>
            </a:pPr>
            <a:r>
              <a:t>[3D CANVAS] 3D Dotted Earth Orbital Radar</a:t>
            </a:r>
          </a:p>
          <a:p>
            <a:pPr>
              <a:spcBef>
                <a:spcPts val="800"/>
              </a:spcBef>
              <a:defRPr sz="1300">
                <a:solidFill>
                  <a:srgbClr val="FFFFFF"/>
                </a:solidFill>
                <a:latin typeface="Arial"/>
              </a:defRPr>
            </a:pPr>
            <a:r>
              <a:t>• Custom HTML5 Canvas rendering engine without external Three.js bloat.</a:t>
            </a:r>
          </a:p>
          <a:p>
            <a:pPr>
              <a:spcBef>
                <a:spcPts val="800"/>
              </a:spcBef>
              <a:defRPr sz="1300">
                <a:solidFill>
                  <a:srgbClr val="FFFFFF"/>
                </a:solidFill>
                <a:latin typeface="Arial"/>
              </a:defRPr>
            </a:pPr>
            <a:r>
              <a:t>• 4,200 Fibonacci stipple points calculated in spherical 3D space.</a:t>
            </a:r>
          </a:p>
          <a:p>
            <a:pPr>
              <a:spcBef>
                <a:spcPts val="800"/>
              </a:spcBef>
              <a:defRPr sz="1300">
                <a:solidFill>
                  <a:srgbClr val="FFFFFF"/>
                </a:solidFill>
                <a:latin typeface="Arial"/>
              </a:defRPr>
            </a:pPr>
            <a:r>
              <a:t>• Spherical ray-casted continental boundaries for realistic planetary geography.</a:t>
            </a:r>
          </a:p>
          <a:p>
            <a:pPr>
              <a:spcBef>
                <a:spcPts val="800"/>
              </a:spcBef>
              <a:defRPr sz="1300">
                <a:solidFill>
                  <a:srgbClr val="FFFFFF"/>
                </a:solidFill>
                <a:latin typeface="Arial"/>
              </a:defRPr>
            </a:pPr>
            <a:r>
              <a:t>• Real-time sub-satellite coordinate telemetry tracking during mouse drag.</a:t>
            </a:r>
          </a:p>
          <a:p>
            <a:pPr>
              <a:spcBef>
                <a:spcPts val="800"/>
              </a:spcBef>
              <a:defRPr sz="1300">
                <a:solidFill>
                  <a:srgbClr val="FFFFFF"/>
                </a:solidFill>
                <a:latin typeface="Arial"/>
              </a:defRPr>
            </a:pPr>
            <a:r>
              <a:t>• Animated sonar beacon ring focused on Tumakuru (13.3414° N, 77.1022° E).</a:t>
            </a:r>
          </a:p>
          <a:p>
            <a:pPr>
              <a:spcBef>
                <a:spcPts val="800"/>
              </a:spcBef>
              <a:defRPr sz="1300">
                <a:solidFill>
                  <a:srgbClr val="FFFFFF"/>
                </a:solidFill>
                <a:latin typeface="Arial"/>
              </a:defRPr>
            </a:pPr>
            <a:r>
              <a:t>• 1-Click 'Target Tumakuru' auto-glide camera alignment button.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5120640" cy="4572000"/>
          </a:xfrm>
          <a:prstGeom prst="roundRect">
            <a:avLst/>
          </a:prstGeom>
          <a:solidFill>
            <a:srgbClr val="081C26"/>
          </a:solidFill>
          <a:ln w="1270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828800"/>
            <a:ext cx="47548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2DD4BF"/>
                </a:solidFill>
                <a:latin typeface="Arial"/>
              </a:defRPr>
            </a:pPr>
            <a:r>
              <a:t>[GLASSMORPHISM] Executive Glassmorphic Interface</a:t>
            </a:r>
          </a:p>
          <a:p>
            <a:pPr>
              <a:spcBef>
                <a:spcPts val="800"/>
              </a:spcBef>
              <a:defRPr sz="1300">
                <a:solidFill>
                  <a:srgbClr val="FFFFFF"/>
                </a:solidFill>
                <a:latin typeface="Arial"/>
              </a:defRPr>
            </a:pPr>
            <a:r>
              <a:t>• Bespoke non-generic visual aesthetic: Deep lagoon void (#03080c) with mint accents.</a:t>
            </a:r>
          </a:p>
          <a:p>
            <a:pPr>
              <a:spcBef>
                <a:spcPts val="800"/>
              </a:spcBef>
              <a:defRPr sz="1300">
                <a:solidFill>
                  <a:srgbClr val="FFFFFF"/>
                </a:solidFill>
                <a:latin typeface="Arial"/>
              </a:defRPr>
            </a:pPr>
            <a:r>
              <a:t>• Ultra-clear frosted glass pod with backdrop-filter: blur(28px).</a:t>
            </a:r>
          </a:p>
          <a:p>
            <a:pPr>
              <a:spcBef>
                <a:spcPts val="800"/>
              </a:spcBef>
              <a:defRPr sz="1300">
                <a:solidFill>
                  <a:srgbClr val="FFFFFF"/>
                </a:solidFill>
                <a:latin typeface="Arial"/>
              </a:defRPr>
            </a:pPr>
            <a:r>
              <a:t>• Precision HUD corner crosshairs and live orbital telemetry badges.</a:t>
            </a:r>
          </a:p>
          <a:p>
            <a:pPr>
              <a:spcBef>
                <a:spcPts val="800"/>
              </a:spcBef>
              <a:defRPr sz="1300">
                <a:solidFill>
                  <a:srgbClr val="FFFFFF"/>
                </a:solidFill>
                <a:latin typeface="Arial"/>
              </a:defRPr>
            </a:pPr>
            <a:r>
              <a:t>• Executive Emergency Safety Ribbon with pulsing red beacon directing crime/fire to 112.</a:t>
            </a:r>
          </a:p>
          <a:p>
            <a:pPr>
              <a:spcBef>
                <a:spcPts val="800"/>
              </a:spcBef>
              <a:defRPr sz="1300">
                <a:solidFill>
                  <a:srgbClr val="FFFFFF"/>
                </a:solidFill>
                <a:latin typeface="Arial"/>
              </a:defRPr>
            </a:pPr>
            <a:r>
              <a:t>• Fully responsive layout across mobile, tablet, and widescreen monitors.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3080C"/>
          </a:solidFill>
          <a:ln>
            <a:solidFill>
              <a:srgbClr val="030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2DD4BF"/>
                </a:solidFill>
                <a:latin typeface="Arial"/>
              </a:defRPr>
            </a:pPr>
            <a:r>
              <a:t>OPERATIONAL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5156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rial"/>
              </a:defRPr>
            </a:pPr>
            <a:r>
              <a:t>End-to-End Civic Grievance Lifecycle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417320"/>
            <a:ext cx="10728655" cy="18288"/>
          </a:xfrm>
          <a:prstGeom prst="rect">
            <a:avLst/>
          </a:prstGeom>
          <a:solidFill>
            <a:srgbClr val="0F766E"/>
          </a:solidFill>
          <a:ln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2468880" cy="4572000"/>
          </a:xfrm>
          <a:prstGeom prst="roundRect">
            <a:avLst/>
          </a:prstGeom>
          <a:solidFill>
            <a:srgbClr val="081C26"/>
          </a:solidFill>
          <a:ln w="1270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28800"/>
            <a:ext cx="21031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2DD4BF"/>
                </a:solidFill>
                <a:latin typeface="Arial"/>
              </a:defRPr>
            </a:pPr>
            <a:r>
              <a:t>[CITIZEN] Step 1: Lodge</a:t>
            </a:r>
          </a:p>
          <a:p>
            <a:pPr>
              <a:spcBef>
                <a:spcPts val="800"/>
              </a:spcBef>
              <a:defRPr sz="1300">
                <a:solidFill>
                  <a:srgbClr val="FFFFFF"/>
                </a:solidFill>
                <a:latin typeface="Arial"/>
              </a:defRPr>
            </a:pPr>
            <a:r>
              <a:t>• Citizen captures photo &amp; pins GPS on interactive map.</a:t>
            </a:r>
          </a:p>
          <a:p>
            <a:pPr>
              <a:spcBef>
                <a:spcPts val="800"/>
              </a:spcBef>
              <a:defRPr sz="1300">
                <a:solidFill>
                  <a:srgbClr val="FFFFFF"/>
                </a:solidFill>
                <a:latin typeface="Arial"/>
              </a:defRPr>
            </a:pPr>
            <a:r>
              <a:t>• Selects from 35 Tumakuru Wards &amp; category.</a:t>
            </a:r>
          </a:p>
          <a:p>
            <a:pPr>
              <a:spcBef>
                <a:spcPts val="800"/>
              </a:spcBef>
              <a:defRPr sz="1300">
                <a:solidFill>
                  <a:srgbClr val="FFFFFF"/>
                </a:solidFill>
                <a:latin typeface="Arial"/>
              </a:defRPr>
            </a:pPr>
            <a:r>
              <a:t>• Instant unique tracking ID generated.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4720" y="1645920"/>
            <a:ext cx="2468880" cy="4572000"/>
          </a:xfrm>
          <a:prstGeom prst="roundRect">
            <a:avLst/>
          </a:prstGeom>
          <a:solidFill>
            <a:srgbClr val="081C26"/>
          </a:solidFill>
          <a:ln w="1270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0" y="1828800"/>
            <a:ext cx="21031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2DD4BF"/>
                </a:solidFill>
                <a:latin typeface="Arial"/>
              </a:defRPr>
            </a:pPr>
            <a:r>
              <a:t>[DISPATCH] Step 2: Triage</a:t>
            </a:r>
          </a:p>
          <a:p>
            <a:pPr>
              <a:spcBef>
                <a:spcPts val="800"/>
              </a:spcBef>
              <a:defRPr sz="1300">
                <a:solidFill>
                  <a:srgbClr val="FFFFFF"/>
                </a:solidFill>
                <a:latin typeface="Arial"/>
              </a:defRPr>
            </a:pPr>
            <a:r>
              <a:t>• Officer views incoming report on GIS Radar.</a:t>
            </a:r>
          </a:p>
          <a:p>
            <a:pPr>
              <a:spcBef>
                <a:spcPts val="800"/>
              </a:spcBef>
              <a:defRPr sz="1300">
                <a:solidFill>
                  <a:srgbClr val="FFFFFF"/>
                </a:solidFill>
                <a:latin typeface="Arial"/>
              </a:defRPr>
            </a:pPr>
            <a:r>
              <a:t>• Urgent hazards highlighted with glowing amber/red pins.</a:t>
            </a:r>
          </a:p>
          <a:p>
            <a:pPr>
              <a:spcBef>
                <a:spcPts val="800"/>
              </a:spcBef>
              <a:defRPr sz="1300">
                <a:solidFill>
                  <a:srgbClr val="FFFFFF"/>
                </a:solidFill>
                <a:latin typeface="Arial"/>
              </a:defRPr>
            </a:pPr>
            <a:r>
              <a:t>• Dispatched to departmental contractor.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645920"/>
            <a:ext cx="2468880" cy="4572000"/>
          </a:xfrm>
          <a:prstGeom prst="roundRect">
            <a:avLst/>
          </a:prstGeom>
          <a:solidFill>
            <a:srgbClr val="081C26"/>
          </a:solidFill>
          <a:ln w="1270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1828800"/>
            <a:ext cx="21031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2DD4BF"/>
                </a:solidFill>
                <a:latin typeface="Arial"/>
              </a:defRPr>
            </a:pPr>
            <a:r>
              <a:t>[FIELD] Step 3: Rectify</a:t>
            </a:r>
          </a:p>
          <a:p>
            <a:pPr>
              <a:spcBef>
                <a:spcPts val="800"/>
              </a:spcBef>
              <a:defRPr sz="1300">
                <a:solidFill>
                  <a:srgbClr val="FFFFFF"/>
                </a:solidFill>
                <a:latin typeface="Arial"/>
              </a:defRPr>
            </a:pPr>
            <a:r>
              <a:t>• Field engineers complete physical road/grid repairs.</a:t>
            </a:r>
          </a:p>
          <a:p>
            <a:pPr>
              <a:spcBef>
                <a:spcPts val="800"/>
              </a:spcBef>
              <a:defRPr sz="1300">
                <a:solidFill>
                  <a:srgbClr val="FFFFFF"/>
                </a:solidFill>
                <a:latin typeface="Arial"/>
              </a:defRPr>
            </a:pPr>
            <a:r>
              <a:t>• Status moved from 'Inspection' to 'Resolved'.</a:t>
            </a:r>
          </a:p>
          <a:p>
            <a:pPr>
              <a:spcBef>
                <a:spcPts val="800"/>
              </a:spcBef>
              <a:defRPr sz="1300">
                <a:solidFill>
                  <a:srgbClr val="FFFFFF"/>
                </a:solidFill>
                <a:latin typeface="Arial"/>
              </a:defRPr>
            </a:pPr>
            <a:r>
              <a:t>• Official remarks logged into SQLite vault.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961120" y="1645920"/>
            <a:ext cx="2468880" cy="4572000"/>
          </a:xfrm>
          <a:prstGeom prst="roundRect">
            <a:avLst/>
          </a:prstGeom>
          <a:solidFill>
            <a:srgbClr val="081C26"/>
          </a:solidFill>
          <a:ln w="1270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0" y="1828800"/>
            <a:ext cx="21031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2DD4BF"/>
                </a:solidFill>
                <a:latin typeface="Arial"/>
              </a:defRPr>
            </a:pPr>
            <a:r>
              <a:t>[CERTIFICATE] Step 4: Certify</a:t>
            </a:r>
          </a:p>
          <a:p>
            <a:pPr>
              <a:spcBef>
                <a:spcPts val="800"/>
              </a:spcBef>
              <a:defRPr sz="1300">
                <a:solidFill>
                  <a:srgbClr val="FFFFFF"/>
                </a:solidFill>
                <a:latin typeface="Arial"/>
              </a:defRPr>
            </a:pPr>
            <a:r>
              <a:t>• Citizen receives updated status dossier.</a:t>
            </a:r>
          </a:p>
          <a:p>
            <a:pPr>
              <a:spcBef>
                <a:spcPts val="800"/>
              </a:spcBef>
              <a:defRPr sz="1300">
                <a:solidFill>
                  <a:srgbClr val="FFFFFF"/>
                </a:solidFill>
                <a:latin typeface="Arial"/>
              </a:defRPr>
            </a:pPr>
            <a:r>
              <a:t>• Printable Legal Case Certificate generated.</a:t>
            </a:r>
          </a:p>
          <a:p>
            <a:pPr>
              <a:spcBef>
                <a:spcPts val="800"/>
              </a:spcBef>
              <a:defRPr sz="1300">
                <a:solidFill>
                  <a:srgbClr val="FFFFFF"/>
                </a:solidFill>
                <a:latin typeface="Arial"/>
              </a:defRPr>
            </a:pPr>
            <a:r>
              <a:t>• Complete audit trail signed &amp; locked.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3080C"/>
          </a:solidFill>
          <a:ln>
            <a:solidFill>
              <a:srgbClr val="030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2DD4BF"/>
                </a:solidFill>
                <a:latin typeface="Arial"/>
              </a:defRPr>
            </a:pPr>
            <a:r>
              <a:t>SYSTEM SECURITY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5156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rial"/>
              </a:defRPr>
            </a:pPr>
            <a:r>
              <a:t>Security Architecture &amp; Municipal Officer Console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417320"/>
            <a:ext cx="10728655" cy="18288"/>
          </a:xfrm>
          <a:prstGeom prst="rect">
            <a:avLst/>
          </a:prstGeom>
          <a:solidFill>
            <a:srgbClr val="0F766E"/>
          </a:solidFill>
          <a:ln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081C26"/>
          </a:solidFill>
          <a:ln w="1270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28800"/>
            <a:ext cx="47548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2DD4BF"/>
                </a:solidFill>
                <a:latin typeface="Arial"/>
              </a:defRPr>
            </a:pPr>
            <a:r>
              <a:t>[AUTHENTICATION] Authentication &amp; Access Control</a:t>
            </a:r>
          </a:p>
          <a:p>
            <a:pPr>
              <a:spcBef>
                <a:spcPts val="800"/>
              </a:spcBef>
              <a:defRPr sz="1300">
                <a:solidFill>
                  <a:srgbClr val="FFFFFF"/>
                </a:solidFill>
                <a:latin typeface="Arial"/>
              </a:defRPr>
            </a:pPr>
            <a:r>
              <a:t>• Role-Based Access Control (RBAC): Strict separation between Citizen and Officer permissions.</a:t>
            </a:r>
          </a:p>
          <a:p>
            <a:pPr>
              <a:spcBef>
                <a:spcPts val="800"/>
              </a:spcBef>
              <a:defRPr sz="1300">
                <a:solidFill>
                  <a:srgbClr val="FFFFFF"/>
                </a:solidFill>
                <a:latin typeface="Arial"/>
              </a:defRPr>
            </a:pPr>
            <a:r>
              <a:t>• Protected Officer Endpoints: Only authenticated staff can update complaint stages or view full city metrics.</a:t>
            </a:r>
          </a:p>
          <a:p>
            <a:pPr>
              <a:spcBef>
                <a:spcPts val="800"/>
              </a:spcBef>
              <a:defRPr sz="1300">
                <a:solidFill>
                  <a:srgbClr val="FFFFFF"/>
                </a:solidFill>
                <a:latin typeface="Arial"/>
              </a:defRPr>
            </a:pPr>
            <a:r>
              <a:t>• Secure Token Authentication: 64-character cryptographic hexadecimal bearer tokens.</a:t>
            </a:r>
          </a:p>
          <a:p>
            <a:pPr>
              <a:spcBef>
                <a:spcPts val="800"/>
              </a:spcBef>
              <a:defRPr sz="1300">
                <a:solidFill>
                  <a:srgbClr val="FFFFFF"/>
                </a:solidFill>
                <a:latin typeface="Arial"/>
              </a:defRPr>
            </a:pPr>
            <a:r>
              <a:t>• Password Hashing: SHA-256 / PBKDF2 with unique cryptographic salt per user.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5120640" cy="4572000"/>
          </a:xfrm>
          <a:prstGeom prst="roundRect">
            <a:avLst/>
          </a:prstGeom>
          <a:solidFill>
            <a:srgbClr val="081C26"/>
          </a:solidFill>
          <a:ln w="1270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828800"/>
            <a:ext cx="47548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2DD4BF"/>
                </a:solidFill>
                <a:latin typeface="Arial"/>
              </a:defRPr>
            </a:pPr>
            <a:r>
              <a:t>[ADMIN CONSOLE] Officer Administration Console</a:t>
            </a:r>
          </a:p>
          <a:p>
            <a:pPr>
              <a:spcBef>
                <a:spcPts val="800"/>
              </a:spcBef>
              <a:defRPr sz="1300">
                <a:solidFill>
                  <a:srgbClr val="FFFFFF"/>
                </a:solidFill>
                <a:latin typeface="Arial"/>
              </a:defRPr>
            </a:pPr>
            <a:r>
              <a:t>• Dedicated Admin ID: admin@citizenshield.gov / admin123</a:t>
            </a:r>
          </a:p>
          <a:p>
            <a:pPr>
              <a:spcBef>
                <a:spcPts val="800"/>
              </a:spcBef>
              <a:defRPr sz="1300">
                <a:solidFill>
                  <a:srgbClr val="FFFFFF"/>
                </a:solidFill>
                <a:latin typeface="Arial"/>
              </a:defRPr>
            </a:pPr>
            <a:r>
              <a:t>• Multi-attribute filtering: Filter complaints by Status, Priority, Category, and all 35 Wards.</a:t>
            </a:r>
          </a:p>
          <a:p>
            <a:pPr>
              <a:spcBef>
                <a:spcPts val="800"/>
              </a:spcBef>
              <a:defRPr sz="1300">
                <a:solidFill>
                  <a:srgbClr val="FFFFFF"/>
                </a:solidFill>
                <a:latin typeface="Arial"/>
              </a:defRPr>
            </a:pPr>
            <a:r>
              <a:t>• Status Transition Directives: Move complaints from Submitted ➔ Under Review ➔ In Progress ➔ Resolved.</a:t>
            </a:r>
          </a:p>
          <a:p>
            <a:pPr>
              <a:spcBef>
                <a:spcPts val="800"/>
              </a:spcBef>
              <a:defRPr sz="1300">
                <a:solidFill>
                  <a:srgbClr val="FFFFFF"/>
                </a:solidFill>
                <a:latin typeface="Arial"/>
              </a:defRPr>
            </a:pPr>
            <a:r>
              <a:t>• Audit Logging: Every administrative action logged with timestamp and officer attribution.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3080C"/>
          </a:solidFill>
          <a:ln>
            <a:solidFill>
              <a:srgbClr val="030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2DD4BF"/>
                </a:solidFill>
                <a:latin typeface="Arial"/>
              </a:defRPr>
            </a:pPr>
            <a:r>
              <a:t>VERIFICATION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5156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rial"/>
              </a:defRPr>
            </a:pPr>
            <a:r>
              <a:t>Comprehensive Testing &amp; Quality Verification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417320"/>
            <a:ext cx="10728655" cy="18288"/>
          </a:xfrm>
          <a:prstGeom prst="rect">
            <a:avLst/>
          </a:prstGeom>
          <a:solidFill>
            <a:srgbClr val="0F766E"/>
          </a:solidFill>
          <a:ln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3383280" cy="4572000"/>
          </a:xfrm>
          <a:prstGeom prst="roundRect">
            <a:avLst/>
          </a:prstGeom>
          <a:solidFill>
            <a:srgbClr val="081C26"/>
          </a:solidFill>
          <a:ln w="1270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28800"/>
            <a:ext cx="30175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2DD4BF"/>
                </a:solidFill>
                <a:latin typeface="Arial"/>
              </a:defRPr>
            </a:pPr>
            <a:r>
              <a:t>[FRONTEND] Automated ID Audit</a:t>
            </a:r>
          </a:p>
          <a:p>
            <a:pPr>
              <a:spcBef>
                <a:spcPts val="800"/>
              </a:spcBef>
              <a:defRPr sz="1300">
                <a:solidFill>
                  <a:srgbClr val="FFFFFF"/>
                </a:solidFill>
                <a:latin typeface="Arial"/>
              </a:defRPr>
            </a:pPr>
            <a:r>
              <a:t>• 111+ HTML DOM Element IDs matched with JavaScript controllers.</a:t>
            </a:r>
          </a:p>
          <a:p>
            <a:pPr>
              <a:spcBef>
                <a:spcPts val="800"/>
              </a:spcBef>
              <a:defRPr sz="1300">
                <a:solidFill>
                  <a:srgbClr val="FFFFFF"/>
                </a:solidFill>
                <a:latin typeface="Arial"/>
              </a:defRPr>
            </a:pPr>
            <a:r>
              <a:t>• 0 missing IDs, 0 null-pointer crashes.</a:t>
            </a:r>
          </a:p>
          <a:p>
            <a:pPr>
              <a:spcBef>
                <a:spcPts val="800"/>
              </a:spcBef>
              <a:defRPr sz="1300">
                <a:solidFill>
                  <a:srgbClr val="FFFFFF"/>
                </a:solidFill>
                <a:latin typeface="Arial"/>
              </a:defRPr>
            </a:pPr>
            <a:r>
              <a:t>• Tested across modern Chromium, Gecko, and WebKit browsers.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645920"/>
            <a:ext cx="3383280" cy="4572000"/>
          </a:xfrm>
          <a:prstGeom prst="roundRect">
            <a:avLst/>
          </a:prstGeom>
          <a:solidFill>
            <a:srgbClr val="081C26"/>
          </a:solidFill>
          <a:ln w="1270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1828800"/>
            <a:ext cx="30175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2DD4BF"/>
                </a:solidFill>
                <a:latin typeface="Arial"/>
              </a:defRPr>
            </a:pPr>
            <a:r>
              <a:t>[BACKEND] API Stress Testing</a:t>
            </a:r>
          </a:p>
          <a:p>
            <a:pPr>
              <a:spcBef>
                <a:spcPts val="800"/>
              </a:spcBef>
              <a:defRPr sz="1300">
                <a:solidFill>
                  <a:srgbClr val="FFFFFF"/>
                </a:solidFill>
                <a:latin typeface="Arial"/>
              </a:defRPr>
            </a:pPr>
            <a:r>
              <a:t>• HTTP 200 OK verified across all 8 REST API endpoints.</a:t>
            </a:r>
          </a:p>
          <a:p>
            <a:pPr>
              <a:spcBef>
                <a:spcPts val="800"/>
              </a:spcBef>
              <a:defRPr sz="1300">
                <a:solidFill>
                  <a:srgbClr val="FFFFFF"/>
                </a:solidFill>
                <a:latin typeface="Arial"/>
              </a:defRPr>
            </a:pPr>
            <a:r>
              <a:t>• Sub-15ms response latency for SQLite WAL queries.</a:t>
            </a:r>
          </a:p>
          <a:p>
            <a:pPr>
              <a:spcBef>
                <a:spcPts val="800"/>
              </a:spcBef>
              <a:defRPr sz="1300">
                <a:solidFill>
                  <a:srgbClr val="FFFFFF"/>
                </a:solidFill>
                <a:latin typeface="Arial"/>
              </a:defRPr>
            </a:pPr>
            <a:r>
              <a:t>• Graceful handling of multi-part photo uploads up to 10MB.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645920"/>
            <a:ext cx="3383280" cy="4572000"/>
          </a:xfrm>
          <a:prstGeom prst="roundRect">
            <a:avLst/>
          </a:prstGeom>
          <a:solidFill>
            <a:srgbClr val="081C26"/>
          </a:solidFill>
          <a:ln w="1270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0" y="1828800"/>
            <a:ext cx="30175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2DD4BF"/>
                </a:solidFill>
                <a:latin typeface="Arial"/>
              </a:defRPr>
            </a:pPr>
            <a:r>
              <a:t>[STORAGE] Persistence Test</a:t>
            </a:r>
          </a:p>
          <a:p>
            <a:pPr>
              <a:spcBef>
                <a:spcPts val="800"/>
              </a:spcBef>
              <a:defRPr sz="1300">
                <a:solidFill>
                  <a:srgbClr val="FFFFFF"/>
                </a:solidFill>
                <a:latin typeface="Arial"/>
              </a:defRPr>
            </a:pPr>
            <a:r>
              <a:t>• Server restart survival verified.</a:t>
            </a:r>
          </a:p>
          <a:p>
            <a:pPr>
              <a:spcBef>
                <a:spcPts val="800"/>
              </a:spcBef>
              <a:defRPr sz="1300">
                <a:solidFill>
                  <a:srgbClr val="FFFFFF"/>
                </a:solidFill>
                <a:latin typeface="Arial"/>
              </a:defRPr>
            </a:pPr>
            <a:r>
              <a:t>• Zero data loss across daemon restarts.</a:t>
            </a:r>
          </a:p>
          <a:p>
            <a:pPr>
              <a:spcBef>
                <a:spcPts val="800"/>
              </a:spcBef>
              <a:defRPr sz="1300">
                <a:solidFill>
                  <a:srgbClr val="FFFFFF"/>
                </a:solidFill>
                <a:latin typeface="Arial"/>
              </a:defRPr>
            </a:pPr>
            <a:r>
              <a:t>• Git repository synced cleanly to GitHub.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3080C"/>
          </a:solidFill>
          <a:ln>
            <a:solidFill>
              <a:srgbClr val="030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2DD4BF"/>
                </a:solidFill>
                <a:latin typeface="Arial"/>
              </a:defRPr>
            </a:pPr>
            <a:r>
              <a:t>DEMO GUIDE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5156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rial"/>
              </a:defRPr>
            </a:pPr>
            <a:r>
              <a:t>Demonstration Blueprint for Viva &amp; College Demo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417320"/>
            <a:ext cx="10728655" cy="18288"/>
          </a:xfrm>
          <a:prstGeom prst="rect">
            <a:avLst/>
          </a:prstGeom>
          <a:solidFill>
            <a:srgbClr val="0F766E"/>
          </a:solidFill>
          <a:ln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10607040" cy="4572000"/>
          </a:xfrm>
          <a:prstGeom prst="roundRect">
            <a:avLst/>
          </a:prstGeom>
          <a:solidFill>
            <a:srgbClr val="081C26"/>
          </a:solidFill>
          <a:ln w="1270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28800"/>
            <a:ext cx="102412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2DD4BF"/>
                </a:solidFill>
                <a:latin typeface="Arial"/>
              </a:defRPr>
            </a:pPr>
            <a:r>
              <a:t>[LIVE WALKTHROUGH] 4-Minute Live Demo Script for Evaluators</a:t>
            </a:r>
          </a:p>
          <a:p>
            <a:pPr>
              <a:spcBef>
                <a:spcPts val="800"/>
              </a:spcBef>
              <a:defRPr sz="1300">
                <a:solidFill>
                  <a:srgbClr val="FFFFFF"/>
                </a:solidFill>
                <a:latin typeface="Arial"/>
              </a:defRPr>
            </a:pPr>
            <a:r>
              <a:t>• 1. Open http://localhost:5000: Showcase the 3D Dotted Earth Globe, interactively drag to rotate, click 'Target Tumakuru' to center on Tumakuru Corporation coords (13.3414° N, 77.1022° E).</a:t>
            </a:r>
          </a:p>
          <a:p>
            <a:pPr>
              <a:spcBef>
                <a:spcPts val="800"/>
              </a:spcBef>
              <a:defRPr sz="1300">
                <a:solidFill>
                  <a:srgbClr val="FFFFFF"/>
                </a:solidFill>
                <a:latin typeface="Arial"/>
              </a:defRPr>
            </a:pPr>
            <a:r>
              <a:t>• 2. Explain Safety Directive: Highlight the executive emergency ribbon directing crime/fire to 112 while reserving the platform for civic infrastructure defects.</a:t>
            </a:r>
          </a:p>
          <a:p>
            <a:pPr>
              <a:spcBef>
                <a:spcPts val="800"/>
              </a:spcBef>
              <a:defRPr sz="1300">
                <a:solidFill>
                  <a:srgbClr val="FFFFFF"/>
                </a:solidFill>
                <a:latin typeface="Arial"/>
              </a:defRPr>
            </a:pPr>
            <a:r>
              <a:t>• 3. Lodge Grievance: Demonstrate GPS pinpointing on Leaflet map, choose from all 35 Tumakuru Corporation wards (e.g. Ward 18 - SIT Campus), upload evidence photo, and submit to SQLite vault.</a:t>
            </a:r>
          </a:p>
          <a:p>
            <a:pPr>
              <a:spcBef>
                <a:spcPts val="800"/>
              </a:spcBef>
              <a:defRPr sz="1300">
                <a:solidFill>
                  <a:srgbClr val="FFFFFF"/>
                </a:solidFill>
                <a:latin typeface="Arial"/>
              </a:defRPr>
            </a:pPr>
            <a:r>
              <a:t>• 4. Track Case: Copy the tracking ID into Case Tracker to show the milestone timeline and generate the official Printable Case Dossier Certificate.</a:t>
            </a:r>
          </a:p>
          <a:p>
            <a:pPr>
              <a:spcBef>
                <a:spcPts val="800"/>
              </a:spcBef>
              <a:defRPr sz="1300">
                <a:solidFill>
                  <a:srgbClr val="FFFFFF"/>
                </a:solidFill>
                <a:latin typeface="Arial"/>
              </a:defRPr>
            </a:pPr>
            <a:r>
              <a:t>• 5. Officer Console: Log in as admin@citizenshield.gov / admin123, filter by Ward / Severity, and update the status to 'Resolved' with official work order remarks.</a:t>
            </a:r>
          </a:p>
          <a:p>
            <a:pPr>
              <a:spcBef>
                <a:spcPts val="800"/>
              </a:spcBef>
              <a:defRPr sz="1300">
                <a:solidFill>
                  <a:srgbClr val="FFFFFF"/>
                </a:solidFill>
                <a:latin typeface="Arial"/>
              </a:defRPr>
            </a:pPr>
            <a:r>
              <a:t>• 6. Conclude: Point to the GitHub repository and permanent database WAL architecture.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3080C"/>
          </a:solidFill>
          <a:ln>
            <a:solidFill>
              <a:srgbClr val="030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2DD4BF"/>
                </a:solidFill>
                <a:latin typeface="Arial"/>
              </a:defRPr>
            </a:pPr>
            <a:r>
              <a:t>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5156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rial"/>
              </a:defRPr>
            </a:pPr>
            <a:r>
              <a:t>Conclusion &amp; Project Repositories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417320"/>
            <a:ext cx="10728655" cy="18288"/>
          </a:xfrm>
          <a:prstGeom prst="rect">
            <a:avLst/>
          </a:prstGeom>
          <a:solidFill>
            <a:srgbClr val="0F766E"/>
          </a:solidFill>
          <a:ln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081C26"/>
          </a:solidFill>
          <a:ln w="1270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28800"/>
            <a:ext cx="47548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2DD4BF"/>
                </a:solidFill>
                <a:latin typeface="Arial"/>
              </a:defRPr>
            </a:pPr>
            <a:r>
              <a:t>[ACHIEVEMENTS] Key Project Achievements</a:t>
            </a:r>
          </a:p>
          <a:p>
            <a:pPr>
              <a:spcBef>
                <a:spcPts val="800"/>
              </a:spcBef>
              <a:defRPr sz="1300">
                <a:solidFill>
                  <a:srgbClr val="FFFFFF"/>
                </a:solidFill>
                <a:latin typeface="Arial"/>
              </a:defRPr>
            </a:pPr>
            <a:r>
              <a:t>• Complete full-stack civic governance portal delivered from scratch.</a:t>
            </a:r>
          </a:p>
          <a:p>
            <a:pPr>
              <a:spcBef>
                <a:spcPts val="800"/>
              </a:spcBef>
              <a:defRPr sz="1300">
                <a:solidFill>
                  <a:srgbClr val="FFFFFF"/>
                </a:solidFill>
                <a:latin typeface="Arial"/>
              </a:defRPr>
            </a:pPr>
            <a:r>
              <a:t>• Permanent, immutable SQLite WAL database ensuring zero data loss.</a:t>
            </a:r>
          </a:p>
          <a:p>
            <a:pPr>
              <a:spcBef>
                <a:spcPts val="800"/>
              </a:spcBef>
              <a:defRPr sz="1300">
                <a:solidFill>
                  <a:srgbClr val="FFFFFF"/>
                </a:solidFill>
                <a:latin typeface="Arial"/>
              </a:defRPr>
            </a:pPr>
            <a:r>
              <a:t>• Comprehensive coverage of all 35 Tumakuru City Corporation wards.</a:t>
            </a:r>
          </a:p>
          <a:p>
            <a:pPr>
              <a:spcBef>
                <a:spcPts val="800"/>
              </a:spcBef>
              <a:defRPr sz="1300">
                <a:solidFill>
                  <a:srgbClr val="FFFFFF"/>
                </a:solidFill>
                <a:latin typeface="Arial"/>
              </a:defRPr>
            </a:pPr>
            <a:r>
              <a:t>• Unique, non-generic glassmorphic UI with bespoke 3D Dotted Earth math engine.</a:t>
            </a:r>
          </a:p>
          <a:p>
            <a:pPr>
              <a:spcBef>
                <a:spcPts val="800"/>
              </a:spcBef>
              <a:defRPr sz="1300">
                <a:solidFill>
                  <a:srgbClr val="FFFFFF"/>
                </a:solidFill>
                <a:latin typeface="Arial"/>
              </a:defRPr>
            </a:pPr>
            <a:r>
              <a:t>• Full role-based security, GIS spatial integration, and printable legal certificates.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5120640" cy="4572000"/>
          </a:xfrm>
          <a:prstGeom prst="roundRect">
            <a:avLst/>
          </a:prstGeom>
          <a:solidFill>
            <a:srgbClr val="081C26"/>
          </a:solidFill>
          <a:ln w="1270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828800"/>
            <a:ext cx="47548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2DD4BF"/>
                </a:solidFill>
                <a:latin typeface="Arial"/>
              </a:defRPr>
            </a:pPr>
            <a:r>
              <a:t>[RESOURCES] Project Access &amp; Credentials</a:t>
            </a:r>
          </a:p>
          <a:p>
            <a:pPr>
              <a:spcBef>
                <a:spcPts val="800"/>
              </a:spcBef>
              <a:defRPr sz="1300">
                <a:solidFill>
                  <a:srgbClr val="FFFFFF"/>
                </a:solidFill>
                <a:latin typeface="Arial"/>
              </a:defRPr>
            </a:pPr>
            <a:r>
              <a:t>• GitHub Repository: https://github.com/chinmaymr7090/CitizenShield</a:t>
            </a:r>
          </a:p>
          <a:p>
            <a:pPr>
              <a:spcBef>
                <a:spcPts val="800"/>
              </a:spcBef>
              <a:defRPr sz="1300">
                <a:solidFill>
                  <a:srgbClr val="FFFFFF"/>
                </a:solidFill>
                <a:latin typeface="Arial"/>
              </a:defRPr>
            </a:pPr>
            <a:r>
              <a:t>• Local Access URL: http://localhost:5000</a:t>
            </a:r>
          </a:p>
          <a:p>
            <a:pPr>
              <a:spcBef>
                <a:spcPts val="800"/>
              </a:spcBef>
              <a:defRPr sz="1300">
                <a:solidFill>
                  <a:srgbClr val="FFFFFF"/>
                </a:solidFill>
                <a:latin typeface="Arial"/>
              </a:defRPr>
            </a:pPr>
            <a:r>
              <a:t>• Directorate Admin: admin@citizenshield.gov / admin123</a:t>
            </a:r>
          </a:p>
          <a:p>
            <a:pPr>
              <a:spcBef>
                <a:spcPts val="800"/>
              </a:spcBef>
              <a:defRPr sz="1300">
                <a:solidFill>
                  <a:srgbClr val="FFFFFF"/>
                </a:solidFill>
                <a:latin typeface="Arial"/>
              </a:defRPr>
            </a:pPr>
            <a:r>
              <a:t>• Default Citizen: rahul.citizen@gmail.com / Citizen@2026</a:t>
            </a:r>
          </a:p>
          <a:p>
            <a:pPr>
              <a:spcBef>
                <a:spcPts val="800"/>
              </a:spcBef>
              <a:defRPr sz="1300">
                <a:solidFill>
                  <a:srgbClr val="FFFFFF"/>
                </a:solidFill>
                <a:latin typeface="Arial"/>
              </a:defRPr>
            </a:pPr>
            <a:r>
              <a:t>• Lead Developer: Chinmay M R</a:t>
            </a:r>
          </a:p>
          <a:p>
            <a:pPr>
              <a:spcBef>
                <a:spcPts val="800"/>
              </a:spcBef>
              <a:defRPr sz="1300">
                <a:solidFill>
                  <a:srgbClr val="FFFFFF"/>
                </a:solidFill>
                <a:latin typeface="Arial"/>
              </a:defRPr>
            </a:pPr>
            <a:r>
              <a:t>• Course: Full-Stack Web Development &amp; Cloud Systems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